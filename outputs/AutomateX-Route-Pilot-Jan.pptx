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f4ee225f542a3" /><Relationship Type="http://schemas.openxmlformats.org/officeDocument/2006/relationships/extended-properties" Target="/docProps/app.xml" Id="Rc326a7392a394f28" /><Relationship Type="http://schemas.openxmlformats.org/officeDocument/2006/relationships/officeDocument" Target="/ppt/presentation.xml" Id="R7934263cd827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2adf2b611c45b8"/>
  </p:sldMasterIdLst>
  <p:notesMasterIdLst>
    <p:notesMasterId xmlns:r="http://schemas.openxmlformats.org/officeDocument/2006/relationships" r:id="R0a98e40011c441bb"/>
  </p:notesMasterIdLst>
  <p:sldIdLst>
    <p:sldId xmlns:r="http://schemas.openxmlformats.org/officeDocument/2006/relationships" id="256" r:id="R3fd0697e54dc45ba"/>
    <p:sldId xmlns:r="http://schemas.openxmlformats.org/officeDocument/2006/relationships" id="257" r:id="R483fbaef081947d5"/>
    <p:sldId xmlns:r="http://schemas.openxmlformats.org/officeDocument/2006/relationships" id="258" r:id="R4a05b326dd4d4a14"/>
    <p:sldId xmlns:r="http://schemas.openxmlformats.org/officeDocument/2006/relationships" id="259" r:id="Rd983f019adbe47a4"/>
    <p:sldId xmlns:r="http://schemas.openxmlformats.org/officeDocument/2006/relationships" id="260" r:id="R791838cd2b1649d0"/>
    <p:sldId xmlns:r="http://schemas.openxmlformats.org/officeDocument/2006/relationships" id="261" r:id="R205acff948d74e7f"/>
    <p:sldId xmlns:r="http://schemas.openxmlformats.org/officeDocument/2006/relationships" id="262" r:id="R300f0cf8925a4bc4"/>
    <p:sldId xmlns:r="http://schemas.openxmlformats.org/officeDocument/2006/relationships" id="263" r:id="Rc92d7fd576fe422b"/>
    <p:sldId xmlns:r="http://schemas.openxmlformats.org/officeDocument/2006/relationships" id="264" r:id="R06e49c2c140b408e"/>
    <p:sldId xmlns:r="http://schemas.openxmlformats.org/officeDocument/2006/relationships" id="265" r:id="R6bccb2ec4e364e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dbf108fef44749" /><Relationship Type="http://schemas.openxmlformats.org/officeDocument/2006/relationships/slideMaster" Target="/ppt/slideMasters/slideMaster1.xml" Id="R172adf2b611c45b8" /><Relationship Type="http://schemas.openxmlformats.org/officeDocument/2006/relationships/notesMaster" Target="/ppt/notesMasters/notesMaster1.xml" Id="R0a98e40011c441bb" /><Relationship Type="http://schemas.openxmlformats.org/officeDocument/2006/relationships/presProps" Target="/ppt/presProps.xml" Id="Ra9ff7cc3a9c3444a" /><Relationship Type="http://schemas.openxmlformats.org/officeDocument/2006/relationships/tableStyles" Target="/ppt/tableStyles.xml" Id="Ra26b2dfec9204f40" /><Relationship Type="http://schemas.openxmlformats.org/officeDocument/2006/relationships/slide" Target="/ppt/slides/slide1.xml" Id="R3fd0697e54dc45ba" /><Relationship Type="http://schemas.openxmlformats.org/officeDocument/2006/relationships/slide" Target="/ppt/slides/slide2.xml" Id="R483fbaef081947d5" /><Relationship Type="http://schemas.openxmlformats.org/officeDocument/2006/relationships/slide" Target="/ppt/slides/slide3.xml" Id="R4a05b326dd4d4a14" /><Relationship Type="http://schemas.openxmlformats.org/officeDocument/2006/relationships/slide" Target="/ppt/slides/slide4.xml" Id="Rd983f019adbe47a4" /><Relationship Type="http://schemas.openxmlformats.org/officeDocument/2006/relationships/slide" Target="/ppt/slides/slide5.xml" Id="R791838cd2b1649d0" /><Relationship Type="http://schemas.openxmlformats.org/officeDocument/2006/relationships/slide" Target="/ppt/slides/slide6.xml" Id="R205acff948d74e7f" /><Relationship Type="http://schemas.openxmlformats.org/officeDocument/2006/relationships/slide" Target="/ppt/slides/slide7.xml" Id="R300f0cf8925a4bc4" /><Relationship Type="http://schemas.openxmlformats.org/officeDocument/2006/relationships/slide" Target="/ppt/slides/slide8.xml" Id="Rc92d7fd576fe422b" /><Relationship Type="http://schemas.openxmlformats.org/officeDocument/2006/relationships/slide" Target="/ppt/slides/slide9.xml" Id="R06e49c2c140b408e" /><Relationship Type="http://schemas.openxmlformats.org/officeDocument/2006/relationships/slide" Target="/ppt/slides/slide10.xml" Id="R6bccb2ec4e364e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163251356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ced39d97fe411c" /><Relationship Type="http://schemas.openxmlformats.org/officeDocument/2006/relationships/notesMaster" Target="/ppt/notesMasters/notesMaster1.xml" Id="R349a816d22a440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f5cc76ec944290" /><Relationship Type="http://schemas.openxmlformats.org/officeDocument/2006/relationships/notesMaster" Target="/ppt/notesMasters/notesMaster1.xml" Id="Ra445fd7901a64d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91993d11994b87" /><Relationship Type="http://schemas.openxmlformats.org/officeDocument/2006/relationships/notesMaster" Target="/ppt/notesMasters/notesMaster1.xml" Id="R548ed9f7cf144b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56b4a4b634a3c" /><Relationship Type="http://schemas.openxmlformats.org/officeDocument/2006/relationships/notesMaster" Target="/ppt/notesMasters/notesMaster1.xml" Id="R11a7a17f28e74a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0538c0bf544883" /><Relationship Type="http://schemas.openxmlformats.org/officeDocument/2006/relationships/notesMaster" Target="/ppt/notesMasters/notesMaster1.xml" Id="R07b400efdb34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1832db7cd24a7b" /><Relationship Type="http://schemas.openxmlformats.org/officeDocument/2006/relationships/notesMaster" Target="/ppt/notesMasters/notesMaster1.xml" Id="R05d5cb65450244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3310650d66494e" /><Relationship Type="http://schemas.openxmlformats.org/officeDocument/2006/relationships/notesMaster" Target="/ppt/notesMasters/notesMaster1.xml" Id="R479b8a5696554b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ece44398d04e8d" /><Relationship Type="http://schemas.openxmlformats.org/officeDocument/2006/relationships/notesMaster" Target="/ppt/notesMasters/notesMaster1.xml" Id="Rd2d7fb3b5d39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0f5ac6d5f64483" /><Relationship Type="http://schemas.openxmlformats.org/officeDocument/2006/relationships/notesMaster" Target="/ppt/notesMasters/notesMaster1.xml" Id="Rc3a3f53348f04b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6b66ed840c44ba" /><Relationship Type="http://schemas.openxmlformats.org/officeDocument/2006/relationships/notesMaster" Target="/ppt/notesMasters/notesMaster1.xml" Id="R165d805c8b3346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Einstieg: Wir zeigen eine eigenständige Route-Plattform im AutomateX-Stil — zugeschnitten auf Wartung, Disposition und 3.000 Adressen in NRW.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Jan-Kontext setzen: 3.000 Adressen, 3–4 Termine pro Fahrer und Tag, plus Zeitfenster, Skills und kurzfristige Änderungen.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 roten Faden erklären: Signale kommen rein, der Copilot berechnet einen begründeten Vorschlag, die Disposition veröffentlicht.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Vom Import über Regeln bis zur revisionssicheren Veröffentlichung zeigen — hier wird der tägliche Ablauf greifbar.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drei Rollen kurz durchgehen und betonen: minimale Sicht pro Rolle, eine gemeinsame Route und klare Freigaben.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 als Beschleuniger, nicht als Black Box: Jede kritische Aktion bleibt sichtbar und bestätigungspflichtig.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Copiloten als konkrete Produktbausteine nennen; deterministische Validierung bleibt die letzte Instanz.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Noch keine Erfolgswerte behaupten: Zielgrößen markieren und im Shadow-Pilot gegen die bestehende Planung messen.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Vier Phasen als Vertrauensaufbau: erst Daten und Rechte, dann Schattenlauf, dann kontrollierte echte Tour, dann Skalierung.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Abschlussfrage: 45 Minuten für die Demo und zwei Wochen Shadow-Pilot mit klaren Go/No-Go-Messgrößen.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f926270f04d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40a19aecb34fdf" /><Relationship Type="http://schemas.openxmlformats.org/officeDocument/2006/relationships/slideLayout" Target="/ppt/slideLayouts/slideLayout1.xml" Id="Re4de18cafef84e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de18cafef84e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d670c6593488c" /><Relationship Type="http://schemas.openxmlformats.org/officeDocument/2006/relationships/image" Target="/ppt/media/image.png" Id="Rfad9b66e02c74555" /><Relationship Type="http://schemas.openxmlformats.org/officeDocument/2006/relationships/notesSlide" Target="/ppt/notesSlides/notesSlide1.xml" Id="R1f70b9e3ed71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aedab51b74345" /><Relationship Type="http://schemas.openxmlformats.org/officeDocument/2006/relationships/notesSlide" Target="/ppt/notesSlides/notesSlide2.xml" Id="R173d0c9c1e4543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37fafbd8c4d52" /><Relationship Type="http://schemas.openxmlformats.org/officeDocument/2006/relationships/notesSlide" Target="/ppt/notesSlides/notesSlide3.xml" Id="Re4d099f6cafd4f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e36542c354814" /><Relationship Type="http://schemas.openxmlformats.org/officeDocument/2006/relationships/notesSlide" Target="/ppt/notesSlides/notesSlide4.xml" Id="R898ac6d3349747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65196467e4000" /><Relationship Type="http://schemas.openxmlformats.org/officeDocument/2006/relationships/notesSlide" Target="/ppt/notesSlides/notesSlide5.xml" Id="R92293071948942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e0f59aa95427b" /><Relationship Type="http://schemas.openxmlformats.org/officeDocument/2006/relationships/notesSlide" Target="/ppt/notesSlides/notesSlide6.xml" Id="Rebd2838727b941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d6668cbc84622" /><Relationship Type="http://schemas.openxmlformats.org/officeDocument/2006/relationships/notesSlide" Target="/ppt/notesSlides/notesSlide7.xml" Id="Rd3f6e676c8c846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a19efa2cd4a80" /><Relationship Type="http://schemas.openxmlformats.org/officeDocument/2006/relationships/chart" Target="/ppt/slides/charts/chart1.xml" Id="R1a98d53b31cd4d72" /><Relationship Type="http://schemas.openxmlformats.org/officeDocument/2006/relationships/notesSlide" Target="/ppt/notesSlides/notesSlide8.xml" Id="R7eb15d66c52845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3d2add3da4294" /><Relationship Type="http://schemas.openxmlformats.org/officeDocument/2006/relationships/notesSlide" Target="/ppt/notesSlides/notesSlide9.xml" Id="R6aa760dd3da64c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6c0ba09b14cf9" /><Relationship Type="http://schemas.openxmlformats.org/officeDocument/2006/relationships/notesSlide" Target="/ppt/notesSlides/notesSlide10.xml" Id="R00625e1c228b48c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Zielkurve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v>Planungsaufwand</c:v>
          </c:tx>
          <c:spPr>
            <a:solidFill xmlns:a="http://schemas.openxmlformats.org/drawingml/2006/main">
              <a:srgbClr val="94A3B8"/>
            </a:solidFill>
          </c:spPr>
          <c:cat>
            <c:strLit>
              <c:ptCount val="3"/>
              <c:pt idx="0">
                <c:v>Durchlauf</c:v>
              </c:pt>
              <c:pt idx="1">
                <c:v>Fehler</c:v>
              </c:pt>
              <c:pt idx="2">
                <c:v>Adoption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75</c:v>
              </c:pt>
              <c:pt idx="2">
                <c:v>57</c:v>
              </c:pt>
            </c:numLit>
          </c:val>
        </c:ser>
        <c:ser>
          <c:idx val="1"/>
          <c:order val="1"/>
          <c:tx>
            <c:v>Stopps je Tour</c:v>
          </c:tx>
          <c:spPr>
            <a:solidFill xmlns:a="http://schemas.openxmlformats.org/drawingml/2006/main">
              <a:srgbClr val="00B8D9"/>
            </a:solidFill>
          </c:spPr>
          <c:cat>
            <c:strLit>
              <c:ptCount val="3"/>
              <c:pt idx="0">
                <c:v>Durchlauf</c:v>
              </c:pt>
              <c:pt idx="1">
                <c:v>Fehler</c:v>
              </c:pt>
              <c:pt idx="2">
                <c:v>Adoption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115</c:v>
              </c:pt>
              <c:pt idx="2">
                <c:v>128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4748B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9b66e02c7455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88ED9-B445-4829-9F29-B83A3E46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62000">
                <a:srgbClr val="FFFFFF">
                  <a:alpha val="94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D0DC8-33C6-4842-8C40-BEA2407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JAN-DEMO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83440-70F2-4F13-A334-05DE7942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AutomateX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1C102-468B-48E8-837E-3BBA0D30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 · 3.000 Wartungsadressen werden planbar.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98AEF-BC23-452C-9FC1-1E99D37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KI-gestützte Routenoptimierung · Live &amp; Dynamisch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B982F-6899-4CB9-ACD1-EDD11AE5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 ·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DBF19-CD2F-4CDC-B541-2590C732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027793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FFFF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01830-5388-4640-B555-29EF0946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AUSGANGSLAGE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FFB61-54BF-4861-B993-76E663E7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3.000 Wartungsadressen brauchen einen verlässlichen Takt.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05F28-E007-4BBD-992E-2E4C9B70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Bei 3–4 Terminen je Fahrer und Tag werden Zeitfenster, Skills und Absagen schnell zum Dispo-Engpass.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DBDF-5262-48AC-A1EF-47C805B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051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D5F28-D588-4AFB-A28A-46275A09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51358-6045-4EC2-8E4F-E145F8C2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3.000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F3FC1-9B13-4203-B66D-A450BBDA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Adressen in NRW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01D3A-B5B3-4D7D-99C5-CDA4F01A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Ein verteilter Bestand macht die Tagesreihenfolge zum täglichen Handlauf.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C554E-5AE2-4358-A7FD-720BED8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1051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78EBE-5523-4BE7-913F-4EC08A2B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E7D0A-CDA9-46D8-9AAD-C67790FB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40D6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0D67A"/>
                </a:solidFill>
                <a:latin typeface="Aptos"/>
                <a:ea typeface="Aptos"/>
                <a:cs typeface="Aptos"/>
              </a:rPr>
              <a:t>3–4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4CDB8-D13F-43D3-87CB-A708336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Termine je Fahrer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73DBB-D770-49C2-85BB-69F010F6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Zeitfenster, Skills und Fahrzeit lassen wenig Puffer für manuelle Nacharbeit.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86F4-28CE-4521-90BC-620E6086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1051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AE1B7-5A6F-49D2-95D1-B676FB00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A479D-0CD5-47B6-BC90-E8B1EB29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9AAC0-1A76-4584-BB3D-ADC718E9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Tage Vorausblick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07A3C-03C2-4E5D-AFB5-D624790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Langfristig planen, kurzfristig umstellen — ohne die Kontrolle zu verlieren.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C141E-5EBB-400A-8F3F-0267889C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50F83-0982-432B-A883-66B32EBF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6777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F18E3-821B-4F02-9700-C9F33C3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PRODUKTVERSPRECHEN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CB384-B6EC-42FD-828D-CE144F19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AutomateX Route verbindet Auslöser, Planung und Service zu einem steuerbaren Tagesfluss.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509A-AEFD-4F53-9D45-C96D0F1A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Die KI plant im Hintergrund; die Disposition sieht Vorschlag, Gründe und Freigabepunkt.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2A59-88F8-4F36-86F7-C7E19DE9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571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D6E8-7436-4E70-8C85-532AE539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E5A5C-526F-4CA0-9F7C-4156418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Excel, Kundenantworten, neue Aufträge und Fahrerereignisse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52280-0C5B-4DE4-A3FD-A464D57D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5BB22-ED52-4989-8798-50882B3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571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B7A43-F53B-4C21-A1B3-8C5865F5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0D67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0D67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6723A-C85E-4DF5-B131-E2078CA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Zeitfenster, Skills, Kapazität und KI-Vorschläge — mit Freigabe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74B3A-2A83-46CE-8801-C7C0FB1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4DE33-4009-4E66-8EB2-05B03C2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571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CAB02-40BE-4ABA-9664-54B145E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ED1D8-D6E3-418D-930B-7EA70271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Route veröffentlichen, ETA teilen, Bericht und KPI zurückführen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09F3F-5C09-43AD-9D0E-68F8309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A94EF-FC97-48F5-9F5B-025E645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2683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20991-E1EB-4860-BA3E-D03B391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EIN TAG MIT AUTOMATEX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B8164-9611-4CA0-AE65-44E5AFAC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Aus der Tagesliste wird ein nachvollziehbarer Plan.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6A7F0-2386-4776-B436-976862E1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Jeder Schritt erzeugt einen sichtbaren Status — vom Import bis zur Wirkungsmessung.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004E5-89BA-4A75-A92E-8E1A1B7B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83CB6-B7D1-41D0-89CD-E57FABA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371CB-55B1-4A52-BDD5-A1E7B1D5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7391E-E534-47E3-A17E-31E91D08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CSV oder Excel prüfen, Spalten zuordnen und Dubletten markieren.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06394-CC19-40C2-994E-3943A311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B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3E41C-7FFE-4737-B4F0-6798D96B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D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F5B76-CE55-4709-836D-4BB192C0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Regelset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33AE2-A2DC-4D9F-9FBB-68F6F90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Copilot übersetzt Limits, Skills und Zeitfenster in klare Constraints.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9F956-4398-41E5-93DE-34A8A47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BFCD4-B45B-432D-9E0A-CFC9A0A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A3637-790C-4EB3-A9FF-8499514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Entwurf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B3F1C-37DC-4B3A-9912-C98F7D2A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 mit Erklärung, Warnung und verständlichem Backlog.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B2BFF-6035-4C6E-BCBB-6C1528E7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9C552-E443-442E-9D55-49BC0A6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593B-0C17-4A3F-9683-3C51F13C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Veröffentlichen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5A0C8-4F34-43E9-9DFA-66BD710B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Nur betroffene Fahrer und Kunden erhalten die neue Revision.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7501D-FE1F-4B19-9259-4AC405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5DA20-50EA-4139-BDD5-D1D516E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5264081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FFFF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01830-5388-4640-B555-29EF0946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DREI ROLLEN · EIN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FFB61-54BF-4861-B993-76E663E7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Jede Rolle sieht genau den nächsten sinnvollen Schritt.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05F28-E007-4BBD-992E-2E4C9B70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Admin, Fahrer und Kunde arbeiten auf derselben Route — mit jeweils minimal nötiger Sicht.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DBDF-5262-48AC-A1EF-47C805B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051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D5F28-D588-4AFB-A28A-46275A09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51358-6045-4EC2-8E4F-E145F8C2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F3FC1-9B13-4203-B66D-A450BBDA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Admin · Control Tower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01D3A-B5B3-4D7D-99C5-CDA4F01A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Plant bis 90 Tage, sperrt Stops, sieht KPI und veröffentlicht revisionssicher.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C554E-5AE2-4358-A7FD-720BED8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1051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78EBE-5523-4BE7-913F-4EC08A2B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81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E7D0A-CDA9-46D8-9AAD-C67790FB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40D6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0D6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4CDB8-D13F-43D3-87CB-A708336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Fahrer · Mobile Tour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73DBB-D770-49C2-85BB-69F010F6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Sieht eigene veröffentlichte Touren, navigiert mit Google Maps und arbeitet offline weiter.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86F4-28CE-4521-90BC-620E6086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1051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AE1B7-5A6F-49D2-95D1-B676FB00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A479D-0CD5-47B6-BC90-E8B1EB29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9AAC0-1A76-4584-BB3D-ADC718E9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Kunde · Sicherer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07A3C-03C2-4E5D-AFB5-D624790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62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Bestätigt, verschiebt oder sagt ab; ETA und Bericht bleiben am Termin.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C141E-5EBB-400A-8F3F-0267889C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50F83-0982-432B-A883-66B32EBF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6777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F18E3-821B-4F02-9700-C9F33C37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KI MIT LEITPLANKEN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CB384-B6EC-42FD-828D-CE144F19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Die KI beschleunigt Entscheidungen — sie ersetzt keine Freigabe.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509A-AEFD-4F53-9D45-C96D0F1A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Import-Copilot, Planungs-Copilot, Slot-Filler, KI-Inbox und Wartungsbericht liefern Vorschläge mit Begründung.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2A59-88F8-4F36-86F7-C7E19DE9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571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D6E8-7436-4E70-8C85-532AE539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Signale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E5A5C-526F-4CA0-9F7C-4156418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Excel-Spalten, E-Mail, GPS und Fahrerbericht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52280-0C5B-4DE4-A3FD-A464D57D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5BB22-ED52-4989-8798-50882B3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571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B7A43-F53B-4C21-A1B3-8C5865F5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0D67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0D67A"/>
                </a:solidFill>
                <a:latin typeface="Aptos"/>
                <a:ea typeface="Aptos"/>
                <a:cs typeface="Aptos"/>
              </a:rPr>
              <a:t>Copilot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6723A-C85E-4DF5-B131-E2078CA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Constraints, Konfidenz und passende Alternativen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74B3A-2A83-46CE-8801-C7C0FB1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495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3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4DE33-4009-4E66-8EB2-05B03C2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571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CAB02-40BE-4ABA-9664-54B145E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Mensch bestätigt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ED1D8-D6E3-418D-930B-7EA70271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Plan veröffentlichen, Absage akzeptieren, Folgeauftrag anlegen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09F3F-5C09-43AD-9D0E-68F8309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A94EF-FC97-48F5-9F5B-025E645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2683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20991-E1EB-4860-BA3E-D03B391D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KI-FUNKTIONEN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B8164-9611-4CA0-AE65-44E5AFAC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Fünf Copiloten machen die Disposition schneller und prüfbarer.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6A7F0-2386-4776-B436-976862E1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Deterministische Regeln entscheiden, was gespeichert wird; KI liefert Struktur, Vorschläge und Sprache.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004E5-89BA-4A75-A92E-8E1A1B7B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83CB6-B7D1-41D0-89CD-E57FABA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371CB-55B1-4A52-BDD5-A1E7B1D5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Import-Copilot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7391E-E534-47E3-A17E-31E91D08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Deutsche Excel-Spalten erkennen, Dubletten und Adressfehler vor dem Import zeigen.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06394-CC19-40C2-994E-3943A311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B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3E41C-7FFE-4737-B4F0-6798D96B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D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F5B76-CE55-4709-836D-4BB192C0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48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Planungs-Copilot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33AE2-A2DC-4D9F-9FBB-68F6F90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Befehl in ein sichtbares PlanningConstraints-Objekt übersetzen; Start erst nach Bestätigung.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9F956-4398-41E5-93DE-34A8A47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BFCD4-B45B-432D-9E0A-CFC9A0A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A3637-790C-4EB3-A9FF-8499514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Slot-Filler &amp; Inbox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B3F1C-37DC-4B3A-9912-C98F7D2A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Routennähe, Skill, SLA und Konfidenz bewerten; Absagen bleiben freigabepflichtig.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B2BFF-6035-4C6E-BCBB-6C1528E7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46863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9C552-E443-442E-9D55-49BC0A6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48150"/>
            <a:ext cx="85725" cy="1104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66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0593B-0C17-4A3F-9683-3C51F13C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Wartungsbericht-Copilot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5A0C8-4F34-43E9-9DFA-66BD710B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Text, Sprache und Fotos in Berichtsentwurf und mögliche Folgeaufgabe überführen.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7501D-FE1F-4B19-9259-4AC405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5DA20-50EA-4139-BDD5-D1D516E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526408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FAFC"/>
            </a:gs>
            <a:gs pos="100000">
              <a:srgbClr val="FFFFFF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F05D0-3694-4140-BCDA-3FC25DB6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PILOT-MESSGRÖSSEN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C3062-76E9-4A9C-8AA9-1F983DE7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Der Shadow-Pilot macht Wirkung sichtbar, bevor wir skalieren.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4F39F-328D-4072-B856-C9B78107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Website-Zielgrößen sind Hypothesen; die Baseline kommt aus Jans Ist-Touren und wird im Pilot gemessen.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8C44A-B787-4112-991A-E8CB1E14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857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A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1066800" y="3124200"/>
          <a:ext xmlns:a="http://schemas.openxmlformats.org/drawingml/2006/main" cx="4095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98d53b31cd4d7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83C63-CB4C-4CDA-8709-6B00BAB5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B8D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B8D9"/>
                </a:solidFill>
                <a:latin typeface="Aptos"/>
                <a:ea typeface="Aptos"/>
                <a:cs typeface="Aptos"/>
              </a:rPr>
              <a:t>−43 %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11361-ABE4-41C2-BE66-0E3E97B0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Planungsaufwand · Zielgröße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7C4CB-CF77-4030-9380-FA8DA6DD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0D67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40D67A"/>
                </a:solidFill>
                <a:latin typeface="Aptos"/>
                <a:ea typeface="Aptos"/>
                <a:cs typeface="Aptos"/>
              </a:rPr>
              <a:t>+28 %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1572E-18C3-4BC2-A76D-9A49BABC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Stopps je Tour · Zielgröße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8D9ED-1C0D-40A9-8935-8F272AF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&lt; 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9D2DB-78C5-43EC-AE60-1D18FC3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Reaktionszeit bei Änderungen · Zielgröße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E598B-42A9-4C09-BB77-9C408CD2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FA262-8932-40A7-8C08-A64F4641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334687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172A"/>
            </a:gs>
            <a:gs pos="58000">
              <a:srgbClr val="172554"/>
            </a:gs>
            <a:gs pos="100000">
              <a:srgbClr val="0F172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C382A-B8BF-452F-86D2-10704C5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0D6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0D67A"/>
                </a:solidFill>
                <a:latin typeface="Aptos"/>
                <a:ea typeface="Aptos"/>
                <a:cs typeface="Aptos"/>
              </a:rPr>
              <a:t>PILOT-ROADMAP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C8E2D-35FE-4567-84D8-52F72A5B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01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Sicher von der Demo zum Live-Pilot.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B571A-BFB5-4D0E-8502-7DCA617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Wir starten klein, vergleichen gegen die bestehende Planung und öffnen erst danach echte Termine. Aktuell: klickbarer Demostand mit synthetischen Daten.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A6ABD-B61C-4D90-8592-6101C2F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E3DC3-9E8D-401C-A07B-A164B68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Daten &amp;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080DA-0BEF-4F93-A951-CBDF9D7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BD5B5-CBE6-41BE-83CB-3A6BCF02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Shadow-Planung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4F9A9-043F-41D6-BE82-C99DB13B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8E7E1-BD37-4C23-B90A-B633D54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Kontrollierte Live-Tour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D71F6-C75D-40B6-8B11-FD2D3953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24762-768A-4672-A732-7238B05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Lernen &amp; Skalieren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61380-4A5C-40C2-9E29-3230DCA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A97E6-7B89-4636-A19C-117D9306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2976116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F172A"/>
            </a:gs>
            <a:gs pos="58000">
              <a:srgbClr val="172554"/>
            </a:gs>
            <a:gs pos="100000">
              <a:srgbClr val="0F172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C382A-B8BF-452F-86D2-10704C53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0D6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0D67A"/>
                </a:solidFill>
                <a:latin typeface="Aptos"/>
                <a:ea typeface="Aptos"/>
                <a:cs typeface="Aptos"/>
              </a:rPr>
              <a:t>NÄCHSTER SCHRITT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C8E2D-35FE-4567-84D8-52F72A5B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001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45 Minuten Livedemo. Zwei Wochen Shadow-Pilot.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B571A-BFB5-4D0E-8502-7DCA617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Wir zeigen einen echten Ablauf mit Tagesliste, Fahrerregeln, Kundenantwort und KPI — ohne echte Termine zu verändern.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A6ABD-B61C-4D90-8592-6101C2F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E3DC3-9E8D-401C-A07B-A164B68E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Stichprobe teilen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080DA-0BEF-4F93-A951-CBDF9D7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BD5B5-CBE6-41BE-83CB-3A6BCF02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Regeln festlegen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4F9A9-043F-41D6-BE82-C99DB13B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8E7E1-BD37-4C23-B90A-B633D54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durchspielen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D71F6-C75D-40B6-8B11-FD2D3953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21336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24762-768A-4672-A732-7238B05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148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 / No-Go messen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61380-4A5C-40C2-9E29-3230DCA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AUTOMATEX ROUTE · JAN-DEMO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A97E6-7B89-4636-A19C-117D9306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2976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2026-07-17T18:18:51.3520000Z</dcterms:created>
  <dcterms:modified xsi:type="dcterms:W3CDTF">2026-07-17T18:18:51.3520000Z</dcterms:modified>
</coreProperties>
</file>