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403"/>
  </p:normalViewPr>
  <p:slideViewPr>
    <p:cSldViewPr snapToGrid="0">
      <p:cViewPr varScale="1">
        <p:scale>
          <a:sx n="112" d="100"/>
          <a:sy n="112" d="100"/>
        </p:scale>
        <p:origin x="67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3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634FB1C8-F6F9-45A5-A5B1-21B353F4DBF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3B3A"/>
          </a:solidFill>
          <a:ln w="0">
            <a:noFill/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31F3F752-8B30-4712-BACA-B7251764F421}"/>
              </a:ext>
            </a:extLst>
          </p:cNvPr>
          <p:cNvSpPr>
            <a:spLocks noGrp="1"/>
          </p:cNvSpPr>
          <p:nvPr/>
        </p:nvSpPr>
        <p:spPr>
          <a:xfrm>
            <a:off x="6515100" y="0"/>
            <a:ext cx="5676900" cy="6858000"/>
          </a:xfrm>
          <a:prstGeom prst="rect">
            <a:avLst/>
          </a:prstGeom>
          <a:solidFill>
            <a:srgbClr val="0E4A47"/>
          </a:solidFill>
          <a:ln w="0">
            <a:noFill/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7" name="Grafik 16"/>
          <p:cNvPicPr>
            <a:picLocks noChangeAspect="1"/>
          </p:cNvPicPr>
          <p:nvPr/>
        </p:nvPicPr>
        <p:blipFill>
          <a:blip r:embed="rId3"/>
          <a:srcRect l="17610" r="17610"/>
          <a:stretch>
            <a:fillRect/>
          </a:stretch>
        </p:blipFill>
        <p:spPr>
          <a:xfrm>
            <a:off x="6819900" y="762000"/>
            <a:ext cx="4762500" cy="5105400"/>
          </a:xfrm>
          <a:prstGeom prst="roundRect">
            <a:avLst>
              <a:gd name="adj" fmla="val 3200"/>
            </a:avLst>
          </a:prstGeom>
        </p:spPr>
      </p:pic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7623EC94-A9F4-46F2-BC81-EA3E335F5FAE}"/>
              </a:ext>
            </a:extLst>
          </p:cNvPr>
          <p:cNvSpPr>
            <a:spLocks noGrp="1"/>
          </p:cNvSpPr>
          <p:nvPr/>
        </p:nvSpPr>
        <p:spPr>
          <a:xfrm>
            <a:off x="6819900" y="762000"/>
            <a:ext cx="4762500" cy="5105400"/>
          </a:xfrm>
          <a:prstGeom prst="roundRect">
            <a:avLst>
              <a:gd name="adj" fmla="val 3200"/>
            </a:avLst>
          </a:prstGeom>
          <a:noFill/>
          <a:ln w="9525">
            <a:solidFill>
              <a:srgbClr val="79A9A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9" name="Grafik 1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00050" y="419100"/>
            <a:ext cx="457200" cy="457200"/>
          </a:xfrm>
          <a:prstGeom prst="roundRect">
            <a:avLst>
              <a:gd name="adj" fmla="val 25000"/>
            </a:avLst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3C271BBC-CA2E-43AE-937A-852984748C32}"/>
              </a:ext>
            </a:extLst>
          </p:cNvPr>
          <p:cNvSpPr>
            <a:spLocks noGrp="1"/>
          </p:cNvSpPr>
          <p:nvPr/>
        </p:nvSpPr>
        <p:spPr>
          <a:xfrm>
            <a:off x="990600" y="53340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AutomateX Route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4A23202-6F94-45EC-BC64-7887717856FB}"/>
              </a:ext>
            </a:extLst>
          </p:cNvPr>
          <p:cNvSpPr>
            <a:spLocks noGrp="1"/>
          </p:cNvSpPr>
          <p:nvPr/>
        </p:nvSpPr>
        <p:spPr>
          <a:xfrm>
            <a:off x="400050" y="16573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DDF5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DDF56A"/>
                </a:solidFill>
                <a:latin typeface="Helvetica Neue"/>
                <a:ea typeface="Helvetica Neue"/>
                <a:cs typeface="Helvetica Neue"/>
              </a:rPr>
              <a:t>LIVE-DEMO &amp; PILOTVORSCHLAG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C2AB9B53-B6CB-49BC-BA03-E3916532808A}"/>
              </a:ext>
            </a:extLst>
          </p:cNvPr>
          <p:cNvSpPr>
            <a:spLocks noGrp="1"/>
          </p:cNvSpPr>
          <p:nvPr/>
        </p:nvSpPr>
        <p:spPr>
          <a:xfrm>
            <a:off x="400050" y="2038350"/>
            <a:ext cx="55245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Wartungsplanung für</a:t>
            </a:r>
          </a:p>
          <a:p>
            <a:pPr algn="l">
              <a:def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3.000 Adressen in NRW.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43A55565-13A6-48CD-A857-19B4FA64D263}"/>
              </a:ext>
            </a:extLst>
          </p:cNvPr>
          <p:cNvSpPr>
            <a:spLocks noGrp="1"/>
          </p:cNvSpPr>
          <p:nvPr/>
        </p:nvSpPr>
        <p:spPr>
          <a:xfrm>
            <a:off x="400050" y="4038600"/>
            <a:ext cx="52387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0">
                <a:solidFill>
                  <a:srgbClr val="D6E9E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D6E9E6"/>
                </a:solidFill>
                <a:latin typeface="Helvetica Neue"/>
                <a:ea typeface="Helvetica Neue"/>
                <a:cs typeface="Helvetica Neue"/>
              </a:rPr>
              <a:t>Tagesrouten mit 3–4 Terminen: klar planen, schnell anpassen und sauber an Fahrer übergeben.</a:t>
            </a:r>
          </a:p>
        </p:txBody>
      </p:sp>
      <p:sp>
        <p:nvSpPr>
          <p:cNvPr id="10" name="Abgerundetes Rechteck 9">
            <a:extLst>
              <a:ext uri="{FF2B5EF4-FFF2-40B4-BE49-F238E27FC236}">
                <a16:creationId xmlns:a16="http://schemas.microsoft.com/office/drawing/2014/main" id="{C168E479-88AB-44AA-994E-C4CA9E387095}"/>
              </a:ext>
            </a:extLst>
          </p:cNvPr>
          <p:cNvSpPr>
            <a:spLocks noGrp="1"/>
          </p:cNvSpPr>
          <p:nvPr/>
        </p:nvSpPr>
        <p:spPr>
          <a:xfrm>
            <a:off x="400050" y="5295900"/>
            <a:ext cx="2762250" cy="419100"/>
          </a:xfrm>
          <a:prstGeom prst="roundRect">
            <a:avLst>
              <a:gd name="adj" fmla="val 27273"/>
            </a:avLst>
          </a:prstGeom>
          <a:solidFill>
            <a:srgbClr val="DDF56A"/>
          </a:solidFill>
          <a:ln w="0">
            <a:noFill/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7224CE7D-0038-4B3C-972B-0855D1F813A4}"/>
              </a:ext>
            </a:extLst>
          </p:cNvPr>
          <p:cNvSpPr>
            <a:spLocks noGrp="1"/>
          </p:cNvSpPr>
          <p:nvPr/>
        </p:nvSpPr>
        <p:spPr>
          <a:xfrm>
            <a:off x="552450" y="5400675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073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73B3A"/>
                </a:solidFill>
                <a:latin typeface="Helvetica Neue"/>
                <a:ea typeface="Helvetica Neue"/>
                <a:cs typeface="Helvetica Neue"/>
              </a:rPr>
              <a:t>3. Platz · StartUp Olympics</a:t>
            </a:r>
          </a:p>
        </p:txBody>
      </p:sp>
      <p:sp>
        <p:nvSpPr>
          <p:cNvPr id="12" name="Gerade Verbindung 11">
            <a:extLst>
              <a:ext uri="{FF2B5EF4-FFF2-40B4-BE49-F238E27FC236}">
                <a16:creationId xmlns:a16="http://schemas.microsoft.com/office/drawing/2014/main" id="{75756CC8-E327-4D6C-B58F-AE6D9BB5DFAE}"/>
              </a:ext>
            </a:extLst>
          </p:cNvPr>
          <p:cNvSpPr>
            <a:spLocks noGrp="1"/>
          </p:cNvSpPr>
          <p:nvPr/>
        </p:nvSpPr>
        <p:spPr>
          <a:xfrm>
            <a:off x="400050" y="6267450"/>
            <a:ext cx="11391900" cy="0"/>
          </a:xfrm>
          <a:prstGeom prst="line">
            <a:avLst/>
          </a:prstGeom>
          <a:noFill/>
          <a:ln w="9525">
            <a:solidFill>
              <a:srgbClr val="4B757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EBBE9AB8-5B0E-41C6-8F9A-0A11B16BF04B}"/>
              </a:ext>
            </a:extLst>
          </p:cNvPr>
          <p:cNvSpPr>
            <a:spLocks noGrp="1"/>
          </p:cNvSpPr>
          <p:nvPr/>
        </p:nvSpPr>
        <p:spPr>
          <a:xfrm>
            <a:off x="400050" y="6410325"/>
            <a:ext cx="800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50" b="0">
                <a:solidFill>
                  <a:srgbClr val="B6D1CE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B6D1CE"/>
                </a:solidFill>
                <a:latin typeface="Helvetica Neue"/>
                <a:ea typeface="Helvetica Neue"/>
                <a:cs typeface="Helvetica Neue"/>
              </a:rPr>
              <a:t>Quellen: Kundengespräch · AutomateX Produktstand · automate-x-solutions.de (17.07.2026)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A2D104CD-EEC2-48FE-8B74-CBE95B739E59}"/>
              </a:ext>
            </a:extLst>
          </p:cNvPr>
          <p:cNvSpPr>
            <a:spLocks noGrp="1"/>
          </p:cNvSpPr>
          <p:nvPr/>
        </p:nvSpPr>
        <p:spPr>
          <a:xfrm>
            <a:off x="11277600" y="6381750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33725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AD2D9CB2-B476-4A0A-B33B-7CCBB90436AE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12B8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2B886"/>
                </a:solidFill>
                <a:latin typeface="Helvetica Neue"/>
                <a:ea typeface="Helvetica Neue"/>
                <a:cs typeface="Helvetica Neue"/>
              </a:rPr>
              <a:t>AUSGANGSLAGE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0DFFC8E5-20E9-44D0-BBE9-A41032EE03BB}"/>
              </a:ext>
            </a:extLst>
          </p:cNvPr>
          <p:cNvSpPr>
            <a:spLocks noGrp="1"/>
          </p:cNvSpPr>
          <p:nvPr/>
        </p:nvSpPr>
        <p:spPr>
          <a:xfrm>
            <a:off x="400050" y="723900"/>
            <a:ext cx="100965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000" b="1">
                <a:solidFill>
                  <a:srgbClr val="1020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2028"/>
                </a:solidFill>
                <a:latin typeface="Helvetica Neue"/>
                <a:ea typeface="Helvetica Neue"/>
                <a:cs typeface="Helvetica Neue"/>
              </a:rPr>
              <a:t>Die Aufgabe ist kein Einmal-Route –</a:t>
            </a:r>
          </a:p>
          <a:p>
            <a:pPr algn="l">
              <a:defRPr sz="3000" b="1">
                <a:solidFill>
                  <a:srgbClr val="1020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2028"/>
                </a:solidFill>
                <a:latin typeface="Helvetica Neue"/>
                <a:ea typeface="Helvetica Neue"/>
                <a:cs typeface="Helvetica Neue"/>
              </a:rPr>
              <a:t>sie ist ein wiederkehrendes Wartungsnetz.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A1361095-CAA3-46FD-AA2D-7CDD09C0D60F}"/>
              </a:ext>
            </a:extLst>
          </p:cNvPr>
          <p:cNvSpPr>
            <a:spLocks noGrp="1"/>
          </p:cNvSpPr>
          <p:nvPr/>
        </p:nvSpPr>
        <p:spPr>
          <a:xfrm>
            <a:off x="400050" y="1962150"/>
            <a:ext cx="9715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5E6B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E6B73"/>
                </a:solidFill>
                <a:latin typeface="Helvetica Neue"/>
                <a:ea typeface="Helvetica Neue"/>
                <a:cs typeface="Helvetica Neue"/>
              </a:rPr>
              <a:t>Für die Planung zählen nicht nur Straßenkilometer: Termine, Gebiete, Servicezeiten und kurzfristige Änderungen müssen zusammenpassen.</a:t>
            </a:r>
          </a:p>
        </p:txBody>
      </p:sp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E22AE9A5-785F-4F96-AF3F-DD7A53D5502D}"/>
              </a:ext>
            </a:extLst>
          </p:cNvPr>
          <p:cNvSpPr>
            <a:spLocks noGrp="1"/>
          </p:cNvSpPr>
          <p:nvPr/>
        </p:nvSpPr>
        <p:spPr>
          <a:xfrm>
            <a:off x="400050" y="3105150"/>
            <a:ext cx="3409950" cy="2400300"/>
          </a:xfrm>
          <a:prstGeom prst="roundRect">
            <a:avLst>
              <a:gd name="adj" fmla="val 6349"/>
            </a:avLst>
          </a:prstGeom>
          <a:solidFill>
            <a:srgbClr val="F3F7F6"/>
          </a:solidFill>
          <a:ln w="9525">
            <a:solidFill>
              <a:srgbClr val="C9D5D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90C1FC4B-A70F-4FAA-8A4B-577BB66DD1C3}"/>
              </a:ext>
            </a:extLst>
          </p:cNvPr>
          <p:cNvSpPr>
            <a:spLocks noGrp="1"/>
          </p:cNvSpPr>
          <p:nvPr/>
        </p:nvSpPr>
        <p:spPr>
          <a:xfrm>
            <a:off x="666750" y="3333750"/>
            <a:ext cx="2952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12B8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2B886"/>
                </a:solidFill>
                <a:latin typeface="Helvetica Neue"/>
                <a:ea typeface="Helvetica Neue"/>
                <a:cs typeface="Helvetica Neue"/>
              </a:rPr>
              <a:t>BESTAND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998AD67-1D8C-4336-B537-7688CD4DF2EC}"/>
              </a:ext>
            </a:extLst>
          </p:cNvPr>
          <p:cNvSpPr>
            <a:spLocks noGrp="1"/>
          </p:cNvSpPr>
          <p:nvPr/>
        </p:nvSpPr>
        <p:spPr>
          <a:xfrm>
            <a:off x="666750" y="3676650"/>
            <a:ext cx="29146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>
                <a:solidFill>
                  <a:srgbClr val="1020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02028"/>
                </a:solidFill>
                <a:latin typeface="Helvetica Neue"/>
                <a:ea typeface="Helvetica Neue"/>
                <a:cs typeface="Helvetica Neue"/>
              </a:rPr>
              <a:t>ca. 3.000</a:t>
            </a:r>
          </a:p>
          <a:p>
            <a:pPr algn="l">
              <a:defRPr sz="1950" b="1">
                <a:solidFill>
                  <a:srgbClr val="1020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02028"/>
                </a:solidFill>
                <a:latin typeface="Helvetica Neue"/>
                <a:ea typeface="Helvetica Neue"/>
                <a:cs typeface="Helvetica Neue"/>
              </a:rPr>
              <a:t>Adressen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4F487822-A343-4BD0-A431-03D367D5CA88}"/>
              </a:ext>
            </a:extLst>
          </p:cNvPr>
          <p:cNvSpPr>
            <a:spLocks noGrp="1"/>
          </p:cNvSpPr>
          <p:nvPr/>
        </p:nvSpPr>
        <p:spPr>
          <a:xfrm>
            <a:off x="666750" y="4438650"/>
            <a:ext cx="29146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E6B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dirty="0" err="1">
                <a:solidFill>
                  <a:srgbClr val="5E6B73"/>
                </a:solidFill>
                <a:latin typeface="Helvetica Neue"/>
                <a:ea typeface="Helvetica Neue"/>
                <a:cs typeface="Helvetica Neue"/>
              </a:rPr>
              <a:t>Wartungsadressen</a:t>
            </a:r>
            <a:r>
              <a:rPr sz="1275" b="0" dirty="0">
                <a:solidFill>
                  <a:srgbClr val="5E6B73"/>
                </a:solidFill>
                <a:latin typeface="Helvetica Neue"/>
                <a:ea typeface="Helvetica Neue"/>
                <a:cs typeface="Helvetica Neue"/>
              </a:rPr>
              <a:t> in NRW </a:t>
            </a:r>
            <a:r>
              <a:rPr sz="1275" b="0" dirty="0" err="1">
                <a:solidFill>
                  <a:srgbClr val="5E6B73"/>
                </a:solidFill>
                <a:latin typeface="Helvetica Neue"/>
                <a:ea typeface="Helvetica Neue"/>
                <a:cs typeface="Helvetica Neue"/>
              </a:rPr>
              <a:t>bilden</a:t>
            </a:r>
            <a:r>
              <a:rPr sz="1275" b="0" dirty="0">
                <a:solidFill>
                  <a:srgbClr val="5E6B73"/>
                </a:solidFill>
                <a:latin typeface="Helvetica Neue"/>
                <a:ea typeface="Helvetica Neue"/>
                <a:cs typeface="Helvetica Neue"/>
              </a:rPr>
              <a:t> die </a:t>
            </a:r>
            <a:r>
              <a:rPr sz="1275" b="0" dirty="0" err="1">
                <a:solidFill>
                  <a:srgbClr val="5E6B73"/>
                </a:solidFill>
                <a:latin typeface="Helvetica Neue"/>
                <a:ea typeface="Helvetica Neue"/>
                <a:cs typeface="Helvetica Neue"/>
              </a:rPr>
              <a:t>Ausgangsdaten</a:t>
            </a:r>
            <a:r>
              <a:rPr sz="1275" b="0" dirty="0">
                <a:solidFill>
                  <a:srgbClr val="5E6B73"/>
                </a:solidFill>
                <a:latin typeface="Helvetica Neue"/>
                <a:ea typeface="Helvetica Neue"/>
                <a:cs typeface="Helvetica Neue"/>
              </a:rPr>
              <a:t> für die </a:t>
            </a:r>
            <a:r>
              <a:rPr sz="1275" b="0" dirty="0" err="1">
                <a:solidFill>
                  <a:srgbClr val="5E6B73"/>
                </a:solidFill>
                <a:latin typeface="Helvetica Neue"/>
                <a:ea typeface="Helvetica Neue"/>
                <a:cs typeface="Helvetica Neue"/>
              </a:rPr>
              <a:t>Planung</a:t>
            </a:r>
            <a:r>
              <a:rPr sz="1275" b="0" dirty="0">
                <a:solidFill>
                  <a:srgbClr val="5E6B73"/>
                </a:solidFill>
                <a:latin typeface="Helvetica Neue"/>
                <a:ea typeface="Helvetica Neue"/>
                <a:cs typeface="Helvetica Neue"/>
              </a:rPr>
              <a:t>.</a:t>
            </a:r>
          </a:p>
        </p:txBody>
      </p:sp>
      <p:sp>
        <p:nvSpPr>
          <p:cNvPr id="9" name="Abgerundetes Rechteck 8">
            <a:extLst>
              <a:ext uri="{FF2B5EF4-FFF2-40B4-BE49-F238E27FC236}">
                <a16:creationId xmlns:a16="http://schemas.microsoft.com/office/drawing/2014/main" id="{CA4F4FD8-9759-4F17-9E07-EBCF88A3E2B4}"/>
              </a:ext>
            </a:extLst>
          </p:cNvPr>
          <p:cNvSpPr>
            <a:spLocks noGrp="1"/>
          </p:cNvSpPr>
          <p:nvPr/>
        </p:nvSpPr>
        <p:spPr>
          <a:xfrm>
            <a:off x="4391025" y="3105150"/>
            <a:ext cx="3409950" cy="2400300"/>
          </a:xfrm>
          <a:prstGeom prst="roundRect">
            <a:avLst>
              <a:gd name="adj" fmla="val 6349"/>
            </a:avLst>
          </a:prstGeom>
          <a:solidFill>
            <a:srgbClr val="F3F7F6"/>
          </a:solidFill>
          <a:ln w="9525">
            <a:solidFill>
              <a:srgbClr val="C9D5D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DF294E37-EC58-46E8-8CAB-505FE2076F82}"/>
              </a:ext>
            </a:extLst>
          </p:cNvPr>
          <p:cNvSpPr>
            <a:spLocks noGrp="1"/>
          </p:cNvSpPr>
          <p:nvPr/>
        </p:nvSpPr>
        <p:spPr>
          <a:xfrm>
            <a:off x="4657725" y="3333750"/>
            <a:ext cx="2952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STARTREGEL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C2E63ADB-EC2F-429A-9040-542E1DD95160}"/>
              </a:ext>
            </a:extLst>
          </p:cNvPr>
          <p:cNvSpPr>
            <a:spLocks noGrp="1"/>
          </p:cNvSpPr>
          <p:nvPr/>
        </p:nvSpPr>
        <p:spPr>
          <a:xfrm>
            <a:off x="4657725" y="3676650"/>
            <a:ext cx="29146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>
                <a:solidFill>
                  <a:srgbClr val="1020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02028"/>
                </a:solidFill>
                <a:latin typeface="Helvetica Neue"/>
                <a:ea typeface="Helvetica Neue"/>
                <a:cs typeface="Helvetica Neue"/>
              </a:rPr>
              <a:t>3–4 Termine</a:t>
            </a:r>
          </a:p>
          <a:p>
            <a:pPr algn="l">
              <a:defRPr sz="1950" b="1">
                <a:solidFill>
                  <a:srgbClr val="1020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02028"/>
                </a:solidFill>
                <a:latin typeface="Helvetica Neue"/>
                <a:ea typeface="Helvetica Neue"/>
                <a:cs typeface="Helvetica Neue"/>
              </a:rPr>
              <a:t>pro Tag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04C273C2-9783-45C4-93D3-A35DEC995CA7}"/>
              </a:ext>
            </a:extLst>
          </p:cNvPr>
          <p:cNvSpPr>
            <a:spLocks noGrp="1"/>
          </p:cNvSpPr>
          <p:nvPr/>
        </p:nvSpPr>
        <p:spPr>
          <a:xfrm>
            <a:off x="4657725" y="4438650"/>
            <a:ext cx="29146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E6B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E6B73"/>
                </a:solidFill>
                <a:latin typeface="Helvetica Neue"/>
                <a:ea typeface="Helvetica Neue"/>
                <a:cs typeface="Helvetica Neue"/>
              </a:rPr>
              <a:t>Das ist die gewünschte Größe für eine überschaubare Tagesroute.</a:t>
            </a:r>
          </a:p>
        </p:txBody>
      </p:sp>
      <p:sp>
        <p:nvSpPr>
          <p:cNvPr id="14" name="Abgerundetes Rechteck 13">
            <a:extLst>
              <a:ext uri="{FF2B5EF4-FFF2-40B4-BE49-F238E27FC236}">
                <a16:creationId xmlns:a16="http://schemas.microsoft.com/office/drawing/2014/main" id="{4CAFC8E4-34D4-4C38-9BCE-49BE3EEDB039}"/>
              </a:ext>
            </a:extLst>
          </p:cNvPr>
          <p:cNvSpPr>
            <a:spLocks noGrp="1"/>
          </p:cNvSpPr>
          <p:nvPr/>
        </p:nvSpPr>
        <p:spPr>
          <a:xfrm>
            <a:off x="8382000" y="3105150"/>
            <a:ext cx="3409950" cy="2400300"/>
          </a:xfrm>
          <a:prstGeom prst="roundRect">
            <a:avLst>
              <a:gd name="adj" fmla="val 6349"/>
            </a:avLst>
          </a:prstGeom>
          <a:solidFill>
            <a:srgbClr val="F3F7F6"/>
          </a:solidFill>
          <a:ln w="9525">
            <a:solidFill>
              <a:srgbClr val="C9D5D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5EFD9B23-412D-4B7B-B4E6-E41D6603A85E}"/>
              </a:ext>
            </a:extLst>
          </p:cNvPr>
          <p:cNvSpPr>
            <a:spLocks noGrp="1"/>
          </p:cNvSpPr>
          <p:nvPr/>
        </p:nvSpPr>
        <p:spPr>
          <a:xfrm>
            <a:off x="8648700" y="3333750"/>
            <a:ext cx="2952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F4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46B6B"/>
                </a:solidFill>
                <a:latin typeface="Helvetica Neue"/>
                <a:ea typeface="Helvetica Neue"/>
                <a:cs typeface="Helvetica Neue"/>
              </a:rPr>
              <a:t>ZIEL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24BE9386-BDFA-41E5-AA0C-15E8C5EA1ED3}"/>
              </a:ext>
            </a:extLst>
          </p:cNvPr>
          <p:cNvSpPr>
            <a:spLocks noGrp="1"/>
          </p:cNvSpPr>
          <p:nvPr/>
        </p:nvSpPr>
        <p:spPr>
          <a:xfrm>
            <a:off x="8648700" y="3676650"/>
            <a:ext cx="29146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>
                <a:solidFill>
                  <a:srgbClr val="1020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02028"/>
                </a:solidFill>
                <a:latin typeface="Helvetica Neue"/>
                <a:ea typeface="Helvetica Neue"/>
                <a:cs typeface="Helvetica Neue"/>
              </a:rPr>
              <a:t>Wiederholbar</a:t>
            </a:r>
          </a:p>
          <a:p>
            <a:pPr algn="l">
              <a:defRPr sz="1950" b="1">
                <a:solidFill>
                  <a:srgbClr val="1020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02028"/>
                </a:solidFill>
                <a:latin typeface="Helvetica Neue"/>
                <a:ea typeface="Helvetica Neue"/>
                <a:cs typeface="Helvetica Neue"/>
              </a:rPr>
              <a:t>planen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97D1A2D6-CE85-442E-B74F-49588F7EE606}"/>
              </a:ext>
            </a:extLst>
          </p:cNvPr>
          <p:cNvSpPr>
            <a:spLocks noGrp="1"/>
          </p:cNvSpPr>
          <p:nvPr/>
        </p:nvSpPr>
        <p:spPr>
          <a:xfrm>
            <a:off x="8648700" y="4438650"/>
            <a:ext cx="29146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E6B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E6B73"/>
                </a:solidFill>
                <a:latin typeface="Helvetica Neue"/>
                <a:ea typeface="Helvetica Neue"/>
                <a:cs typeface="Helvetica Neue"/>
              </a:rPr>
              <a:t>Nicht nur eine gute Tour finden, sondern die Planung zuverlässig wiederholen.</a:t>
            </a:r>
          </a:p>
        </p:txBody>
      </p:sp>
      <p:sp>
        <p:nvSpPr>
          <p:cNvPr id="19" name="Gerade Verbindung 18">
            <a:extLst>
              <a:ext uri="{FF2B5EF4-FFF2-40B4-BE49-F238E27FC236}">
                <a16:creationId xmlns:a16="http://schemas.microsoft.com/office/drawing/2014/main" id="{CD5DC4FB-81E2-4500-83BB-D32F3E9D3C25}"/>
              </a:ext>
            </a:extLst>
          </p:cNvPr>
          <p:cNvSpPr>
            <a:spLocks noGrp="1"/>
          </p:cNvSpPr>
          <p:nvPr/>
        </p:nvSpPr>
        <p:spPr>
          <a:xfrm>
            <a:off x="400050" y="6267450"/>
            <a:ext cx="11391900" cy="0"/>
          </a:xfrm>
          <a:prstGeom prst="line">
            <a:avLst/>
          </a:prstGeom>
          <a:noFill/>
          <a:ln w="9525">
            <a:solidFill>
              <a:srgbClr val="C9D5D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C5D5A7A7-32BB-4ECD-871E-A019219EE9A2}"/>
              </a:ext>
            </a:extLst>
          </p:cNvPr>
          <p:cNvSpPr>
            <a:spLocks noGrp="1"/>
          </p:cNvSpPr>
          <p:nvPr/>
        </p:nvSpPr>
        <p:spPr>
          <a:xfrm>
            <a:off x="400050" y="6410325"/>
            <a:ext cx="800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50" b="0">
                <a:solidFill>
                  <a:srgbClr val="5E6B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E6B73"/>
                </a:solidFill>
                <a:latin typeface="Helvetica Neue"/>
                <a:ea typeface="Helvetica Neue"/>
                <a:cs typeface="Helvetica Neue"/>
              </a:rPr>
              <a:t>Quellen: Kundengespräch · AutomateX Produktstand · automate-x-solutions.de (17.07.2026)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40E85900-B4A2-40D1-AADD-68F7DF504379}"/>
              </a:ext>
            </a:extLst>
          </p:cNvPr>
          <p:cNvSpPr>
            <a:spLocks noGrp="1"/>
          </p:cNvSpPr>
          <p:nvPr/>
        </p:nvSpPr>
        <p:spPr>
          <a:xfrm>
            <a:off x="11277600" y="6381750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1">
                <a:solidFill>
                  <a:srgbClr val="1020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0202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28297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hteck 22">
            <a:extLst>
              <a:ext uri="{FF2B5EF4-FFF2-40B4-BE49-F238E27FC236}">
                <a16:creationId xmlns:a16="http://schemas.microsoft.com/office/drawing/2014/main" id="{B054B4AB-CC2D-42C3-8323-E0026885FDA4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12B8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2B886"/>
                </a:solidFill>
                <a:latin typeface="Helvetica Neue"/>
                <a:ea typeface="Helvetica Neue"/>
                <a:cs typeface="Helvetica Neue"/>
              </a:rPr>
              <a:t>WARUM DAS HEUTE AUFWAND MACHT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29301971-3E5E-427A-86AF-1444BB00D451}"/>
              </a:ext>
            </a:extLst>
          </p:cNvPr>
          <p:cNvSpPr>
            <a:spLocks noGrp="1"/>
          </p:cNvSpPr>
          <p:nvPr/>
        </p:nvSpPr>
        <p:spPr>
          <a:xfrm>
            <a:off x="400050" y="723900"/>
            <a:ext cx="8382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000" b="1">
                <a:solidFill>
                  <a:srgbClr val="1020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2028"/>
                </a:solidFill>
                <a:latin typeface="Helvetica Neue"/>
                <a:ea typeface="Helvetica Neue"/>
                <a:cs typeface="Helvetica Neue"/>
              </a:rPr>
              <a:t>Eine gute Tour entsteht aus Regeln,</a:t>
            </a:r>
          </a:p>
          <a:p>
            <a:pPr algn="l">
              <a:defRPr sz="3000" b="1">
                <a:solidFill>
                  <a:srgbClr val="1020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2028"/>
                </a:solidFill>
                <a:latin typeface="Helvetica Neue"/>
                <a:ea typeface="Helvetica Neue"/>
                <a:cs typeface="Helvetica Neue"/>
              </a:rPr>
              <a:t>die heute im Kopf stecken.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7BEF5655-82EE-40FE-8474-4972A785F0EF}"/>
              </a:ext>
            </a:extLst>
          </p:cNvPr>
          <p:cNvSpPr>
            <a:spLocks noGrp="1"/>
          </p:cNvSpPr>
          <p:nvPr/>
        </p:nvSpPr>
        <p:spPr>
          <a:xfrm>
            <a:off x="400050" y="1866900"/>
            <a:ext cx="8572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5E6B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E6B73"/>
                </a:solidFill>
                <a:latin typeface="Helvetica Neue"/>
                <a:ea typeface="Helvetica Neue"/>
                <a:cs typeface="Helvetica Neue"/>
              </a:rPr>
              <a:t>AutomateX macht diese Regeln sichtbar, damit sie für jede Tagesplanung wiederverwendbar werden.</a:t>
            </a:r>
          </a:p>
        </p:txBody>
      </p:sp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286EF849-D687-4E37-BECC-C2470CBFFE24}"/>
              </a:ext>
            </a:extLst>
          </p:cNvPr>
          <p:cNvSpPr>
            <a:spLocks noGrp="1"/>
          </p:cNvSpPr>
          <p:nvPr/>
        </p:nvSpPr>
        <p:spPr>
          <a:xfrm>
            <a:off x="400050" y="3048000"/>
            <a:ext cx="2552700" cy="2190750"/>
          </a:xfrm>
          <a:prstGeom prst="roundRect">
            <a:avLst>
              <a:gd name="adj" fmla="val 6957"/>
            </a:avLst>
          </a:prstGeom>
          <a:solidFill>
            <a:srgbClr val="F3F7F6"/>
          </a:solidFill>
          <a:ln w="9525">
            <a:solidFill>
              <a:srgbClr val="C9D5D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40F0AB04-76DB-4C0D-B500-5EFE01500A8B}"/>
              </a:ext>
            </a:extLst>
          </p:cNvPr>
          <p:cNvSpPr>
            <a:spLocks noGrp="1"/>
          </p:cNvSpPr>
          <p:nvPr/>
        </p:nvSpPr>
        <p:spPr>
          <a:xfrm>
            <a:off x="628650" y="3276600"/>
            <a:ext cx="76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12B8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2B886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C57ED8A5-7334-4475-856E-18B583776403}"/>
              </a:ext>
            </a:extLst>
          </p:cNvPr>
          <p:cNvSpPr>
            <a:spLocks noGrp="1"/>
          </p:cNvSpPr>
          <p:nvPr/>
        </p:nvSpPr>
        <p:spPr>
          <a:xfrm>
            <a:off x="628650" y="3733800"/>
            <a:ext cx="209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>
                <a:solidFill>
                  <a:srgbClr val="1020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02028"/>
                </a:solidFill>
                <a:latin typeface="Helvetica Neue"/>
                <a:ea typeface="Helvetica Neue"/>
                <a:cs typeface="Helvetica Neue"/>
              </a:rPr>
              <a:t>Gebiet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D010FEF0-197C-4395-91DF-58C2E7573E6A}"/>
              </a:ext>
            </a:extLst>
          </p:cNvPr>
          <p:cNvSpPr>
            <a:spLocks noGrp="1"/>
          </p:cNvSpPr>
          <p:nvPr/>
        </p:nvSpPr>
        <p:spPr>
          <a:xfrm>
            <a:off x="628650" y="4267200"/>
            <a:ext cx="2095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E6B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E6B73"/>
                </a:solidFill>
                <a:latin typeface="Helvetica Neue"/>
                <a:ea typeface="Helvetica Neue"/>
                <a:cs typeface="Helvetica Neue"/>
              </a:rPr>
              <a:t>Welche Adressen gehören an einem Tag sinnvoll zusammen?</a:t>
            </a:r>
          </a:p>
        </p:txBody>
      </p:sp>
      <p:sp>
        <p:nvSpPr>
          <p:cNvPr id="8" name="Abgerundetes Rechteck 7">
            <a:extLst>
              <a:ext uri="{FF2B5EF4-FFF2-40B4-BE49-F238E27FC236}">
                <a16:creationId xmlns:a16="http://schemas.microsoft.com/office/drawing/2014/main" id="{C79820E7-D513-45E7-B765-08E8994B3644}"/>
              </a:ext>
            </a:extLst>
          </p:cNvPr>
          <p:cNvSpPr>
            <a:spLocks noGrp="1"/>
          </p:cNvSpPr>
          <p:nvPr/>
        </p:nvSpPr>
        <p:spPr>
          <a:xfrm>
            <a:off x="3257550" y="3048000"/>
            <a:ext cx="2552700" cy="2190750"/>
          </a:xfrm>
          <a:prstGeom prst="roundRect">
            <a:avLst>
              <a:gd name="adj" fmla="val 6957"/>
            </a:avLst>
          </a:prstGeom>
          <a:solidFill>
            <a:srgbClr val="F3F7F6"/>
          </a:solidFill>
          <a:ln w="9525">
            <a:solidFill>
              <a:srgbClr val="C9D5D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65D09D4C-0D65-43D8-A2FB-896B30EB6D7D}"/>
              </a:ext>
            </a:extLst>
          </p:cNvPr>
          <p:cNvSpPr>
            <a:spLocks noGrp="1"/>
          </p:cNvSpPr>
          <p:nvPr/>
        </p:nvSpPr>
        <p:spPr>
          <a:xfrm>
            <a:off x="3486150" y="3276600"/>
            <a:ext cx="76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12B8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2B88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0561B43B-CC7E-4477-BDCD-2782E29EC29A}"/>
              </a:ext>
            </a:extLst>
          </p:cNvPr>
          <p:cNvSpPr>
            <a:spLocks noGrp="1"/>
          </p:cNvSpPr>
          <p:nvPr/>
        </p:nvSpPr>
        <p:spPr>
          <a:xfrm>
            <a:off x="3486150" y="3733800"/>
            <a:ext cx="209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>
                <a:solidFill>
                  <a:srgbClr val="1020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02028"/>
                </a:solidFill>
                <a:latin typeface="Helvetica Neue"/>
                <a:ea typeface="Helvetica Neue"/>
                <a:cs typeface="Helvetica Neue"/>
              </a:rPr>
              <a:t>Zeit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C68FB07B-0626-499D-8824-86F3901186CD}"/>
              </a:ext>
            </a:extLst>
          </p:cNvPr>
          <p:cNvSpPr>
            <a:spLocks noGrp="1"/>
          </p:cNvSpPr>
          <p:nvPr/>
        </p:nvSpPr>
        <p:spPr>
          <a:xfrm>
            <a:off x="3486150" y="4267200"/>
            <a:ext cx="2095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E6B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E6B73"/>
                </a:solidFill>
                <a:latin typeface="Helvetica Neue"/>
                <a:ea typeface="Helvetica Neue"/>
                <a:cs typeface="Helvetica Neue"/>
              </a:rPr>
              <a:t>Welche Servicezeit und welches Zeitfenster müssen eingehalten werden?</a:t>
            </a:r>
          </a:p>
        </p:txBody>
      </p:sp>
      <p:sp>
        <p:nvSpPr>
          <p:cNvPr id="12" name="Abgerundetes Rechteck 11">
            <a:extLst>
              <a:ext uri="{FF2B5EF4-FFF2-40B4-BE49-F238E27FC236}">
                <a16:creationId xmlns:a16="http://schemas.microsoft.com/office/drawing/2014/main" id="{846C7602-B610-42EE-82F7-D56F87EC6E68}"/>
              </a:ext>
            </a:extLst>
          </p:cNvPr>
          <p:cNvSpPr>
            <a:spLocks noGrp="1"/>
          </p:cNvSpPr>
          <p:nvPr/>
        </p:nvSpPr>
        <p:spPr>
          <a:xfrm>
            <a:off x="6115050" y="3048000"/>
            <a:ext cx="2552700" cy="2190750"/>
          </a:xfrm>
          <a:prstGeom prst="roundRect">
            <a:avLst>
              <a:gd name="adj" fmla="val 6957"/>
            </a:avLst>
          </a:prstGeom>
          <a:solidFill>
            <a:srgbClr val="F3F7F6"/>
          </a:solidFill>
          <a:ln w="9525">
            <a:solidFill>
              <a:srgbClr val="C9D5D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BC7C7B97-EA43-4E1D-A09D-2F0B3BADBFEE}"/>
              </a:ext>
            </a:extLst>
          </p:cNvPr>
          <p:cNvSpPr>
            <a:spLocks noGrp="1"/>
          </p:cNvSpPr>
          <p:nvPr/>
        </p:nvSpPr>
        <p:spPr>
          <a:xfrm>
            <a:off x="6343650" y="3276600"/>
            <a:ext cx="76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12B8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2B88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F02DE17A-990F-40B2-A09D-5A480CA3E6EA}"/>
              </a:ext>
            </a:extLst>
          </p:cNvPr>
          <p:cNvSpPr>
            <a:spLocks noGrp="1"/>
          </p:cNvSpPr>
          <p:nvPr/>
        </p:nvSpPr>
        <p:spPr>
          <a:xfrm>
            <a:off x="6343650" y="3733800"/>
            <a:ext cx="209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>
                <a:solidFill>
                  <a:srgbClr val="1020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02028"/>
                </a:solidFill>
                <a:latin typeface="Helvetica Neue"/>
                <a:ea typeface="Helvetica Neue"/>
                <a:cs typeface="Helvetica Neue"/>
              </a:rPr>
              <a:t>Priorität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24B9D85-0D0B-4BA8-802E-0D58E719F3B0}"/>
              </a:ext>
            </a:extLst>
          </p:cNvPr>
          <p:cNvSpPr>
            <a:spLocks noGrp="1"/>
          </p:cNvSpPr>
          <p:nvPr/>
        </p:nvSpPr>
        <p:spPr>
          <a:xfrm>
            <a:off x="6343650" y="4267200"/>
            <a:ext cx="2095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E6B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E6B73"/>
                </a:solidFill>
                <a:latin typeface="Helvetica Neue"/>
                <a:ea typeface="Helvetica Neue"/>
                <a:cs typeface="Helvetica Neue"/>
              </a:rPr>
              <a:t>Welche Wartung oder Störung darf nicht nach hinten rutschen?</a:t>
            </a:r>
          </a:p>
        </p:txBody>
      </p:sp>
      <p:sp>
        <p:nvSpPr>
          <p:cNvPr id="16" name="Abgerundetes Rechteck 15">
            <a:extLst>
              <a:ext uri="{FF2B5EF4-FFF2-40B4-BE49-F238E27FC236}">
                <a16:creationId xmlns:a16="http://schemas.microsoft.com/office/drawing/2014/main" id="{DD70FA73-1CAB-4E54-A11A-022B22F498E8}"/>
              </a:ext>
            </a:extLst>
          </p:cNvPr>
          <p:cNvSpPr>
            <a:spLocks noGrp="1"/>
          </p:cNvSpPr>
          <p:nvPr/>
        </p:nvSpPr>
        <p:spPr>
          <a:xfrm>
            <a:off x="8972550" y="3048000"/>
            <a:ext cx="2552700" cy="2190750"/>
          </a:xfrm>
          <a:prstGeom prst="roundRect">
            <a:avLst>
              <a:gd name="adj" fmla="val 6957"/>
            </a:avLst>
          </a:prstGeom>
          <a:solidFill>
            <a:srgbClr val="F3F7F6"/>
          </a:solidFill>
          <a:ln w="9525">
            <a:solidFill>
              <a:srgbClr val="C9D5D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7D97DB7B-D907-4E64-9A08-09C8D7ACCEAD}"/>
              </a:ext>
            </a:extLst>
          </p:cNvPr>
          <p:cNvSpPr>
            <a:spLocks noGrp="1"/>
          </p:cNvSpPr>
          <p:nvPr/>
        </p:nvSpPr>
        <p:spPr>
          <a:xfrm>
            <a:off x="9201150" y="3276600"/>
            <a:ext cx="76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12B8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2B886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E0291AF8-FCF6-4395-A68D-2F6B6A81E805}"/>
              </a:ext>
            </a:extLst>
          </p:cNvPr>
          <p:cNvSpPr>
            <a:spLocks noGrp="1"/>
          </p:cNvSpPr>
          <p:nvPr/>
        </p:nvSpPr>
        <p:spPr>
          <a:xfrm>
            <a:off x="9201150" y="3733800"/>
            <a:ext cx="209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>
                <a:solidFill>
                  <a:srgbClr val="1020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02028"/>
                </a:solidFill>
                <a:latin typeface="Helvetica Neue"/>
                <a:ea typeface="Helvetica Neue"/>
                <a:cs typeface="Helvetica Neue"/>
              </a:rPr>
              <a:t>Änderung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A285BA81-9C79-4B71-874F-BA17AC5DC43B}"/>
              </a:ext>
            </a:extLst>
          </p:cNvPr>
          <p:cNvSpPr>
            <a:spLocks noGrp="1"/>
          </p:cNvSpPr>
          <p:nvPr/>
        </p:nvSpPr>
        <p:spPr>
          <a:xfrm>
            <a:off x="9201150" y="4267200"/>
            <a:ext cx="2095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E6B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E6B73"/>
                </a:solidFill>
                <a:latin typeface="Helvetica Neue"/>
                <a:ea typeface="Helvetica Neue"/>
                <a:cs typeface="Helvetica Neue"/>
              </a:rPr>
              <a:t>Was passiert, wenn ein Termin absagt oder neu dazukommt?</a:t>
            </a:r>
          </a:p>
        </p:txBody>
      </p:sp>
      <p:sp>
        <p:nvSpPr>
          <p:cNvPr id="20" name="Gerade Verbindung 19">
            <a:extLst>
              <a:ext uri="{FF2B5EF4-FFF2-40B4-BE49-F238E27FC236}">
                <a16:creationId xmlns:a16="http://schemas.microsoft.com/office/drawing/2014/main" id="{601425D5-256C-43F3-AF4A-4FFF477C1E4F}"/>
              </a:ext>
            </a:extLst>
          </p:cNvPr>
          <p:cNvSpPr>
            <a:spLocks noGrp="1"/>
          </p:cNvSpPr>
          <p:nvPr/>
        </p:nvSpPr>
        <p:spPr>
          <a:xfrm>
            <a:off x="400050" y="6267450"/>
            <a:ext cx="11391900" cy="0"/>
          </a:xfrm>
          <a:prstGeom prst="line">
            <a:avLst/>
          </a:prstGeom>
          <a:noFill/>
          <a:ln w="9525">
            <a:solidFill>
              <a:srgbClr val="C9D5D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E01E264D-2897-4CFD-B624-BA5D1B2A8491}"/>
              </a:ext>
            </a:extLst>
          </p:cNvPr>
          <p:cNvSpPr>
            <a:spLocks noGrp="1"/>
          </p:cNvSpPr>
          <p:nvPr/>
        </p:nvSpPr>
        <p:spPr>
          <a:xfrm>
            <a:off x="400050" y="6410325"/>
            <a:ext cx="800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50" b="0">
                <a:solidFill>
                  <a:srgbClr val="5E6B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E6B73"/>
                </a:solidFill>
                <a:latin typeface="Helvetica Neue"/>
                <a:ea typeface="Helvetica Neue"/>
                <a:cs typeface="Helvetica Neue"/>
              </a:rPr>
              <a:t>Quellen: Kundengespräch · AutomateX Produktstand · automate-x-solutions.de (17.07.2026)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E75BA2C2-76BB-4A7B-B489-083930FE6EBB}"/>
              </a:ext>
            </a:extLst>
          </p:cNvPr>
          <p:cNvSpPr>
            <a:spLocks noGrp="1"/>
          </p:cNvSpPr>
          <p:nvPr/>
        </p:nvSpPr>
        <p:spPr>
          <a:xfrm>
            <a:off x="11277600" y="6381750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1">
                <a:solidFill>
                  <a:srgbClr val="1020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02028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896842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eck 15">
            <a:extLst>
              <a:ext uri="{FF2B5EF4-FFF2-40B4-BE49-F238E27FC236}">
                <a16:creationId xmlns:a16="http://schemas.microsoft.com/office/drawing/2014/main" id="{5E6AE08E-4651-4922-A7F5-0C18B9B5C7BC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304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12B8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2B886"/>
                </a:solidFill>
                <a:latin typeface="Helvetica Neue"/>
                <a:ea typeface="Helvetica Neue"/>
                <a:cs typeface="Helvetica Neue"/>
              </a:rPr>
              <a:t>PRODUKT IM EINSATZ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3C78BCF5-89E3-487A-AD3E-BF0C65233234}"/>
              </a:ext>
            </a:extLst>
          </p:cNvPr>
          <p:cNvSpPr>
            <a:spLocks noGrp="1"/>
          </p:cNvSpPr>
          <p:nvPr/>
        </p:nvSpPr>
        <p:spPr>
          <a:xfrm>
            <a:off x="400050" y="723900"/>
            <a:ext cx="5905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000" b="1">
                <a:solidFill>
                  <a:srgbClr val="1020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2028"/>
                </a:solidFill>
                <a:latin typeface="Helvetica Neue"/>
                <a:ea typeface="Helvetica Neue"/>
                <a:cs typeface="Helvetica Neue"/>
              </a:rPr>
              <a:t>AutomateX verbindet Planung,</a:t>
            </a:r>
          </a:p>
          <a:p>
            <a:pPr algn="l">
              <a:defRPr sz="3000" b="1">
                <a:solidFill>
                  <a:srgbClr val="1020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2028"/>
                </a:solidFill>
                <a:latin typeface="Helvetica Neue"/>
                <a:ea typeface="Helvetica Neue"/>
                <a:cs typeface="Helvetica Neue"/>
              </a:rPr>
              <a:t>Routing und Fahrer-Übergabe.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08BE4143-70FA-4223-AAF9-BC75390F2938}"/>
              </a:ext>
            </a:extLst>
          </p:cNvPr>
          <p:cNvSpPr>
            <a:spLocks noGrp="1"/>
          </p:cNvSpPr>
          <p:nvPr/>
        </p:nvSpPr>
        <p:spPr>
          <a:xfrm>
            <a:off x="400050" y="2000250"/>
            <a:ext cx="5429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5E6B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6B73"/>
                </a:solidFill>
                <a:latin typeface="Helvetica Neue"/>
                <a:ea typeface="Helvetica Neue"/>
                <a:cs typeface="Helvetica Neue"/>
              </a:rPr>
              <a:t>Die Live-Demo zeigt den aktuellen Produktstand – keine Konzeptfolie.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9DD25BC-BD29-4755-A060-350AB5275E02}"/>
              </a:ext>
            </a:extLst>
          </p:cNvPr>
          <p:cNvSpPr>
            <a:spLocks noGrp="1"/>
          </p:cNvSpPr>
          <p:nvPr/>
        </p:nvSpPr>
        <p:spPr>
          <a:xfrm>
            <a:off x="400050" y="2724150"/>
            <a:ext cx="228600" cy="228600"/>
          </a:xfrm>
          <a:prstGeom prst="ellipse">
            <a:avLst/>
          </a:prstGeom>
          <a:solidFill>
            <a:srgbClr val="12B886"/>
          </a:solidFill>
          <a:ln w="0">
            <a:noFill/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F9DF8023-9528-45C0-9452-B6792F5EB9C4}"/>
              </a:ext>
            </a:extLst>
          </p:cNvPr>
          <p:cNvSpPr>
            <a:spLocks noGrp="1"/>
          </p:cNvSpPr>
          <p:nvPr/>
        </p:nvSpPr>
        <p:spPr>
          <a:xfrm>
            <a:off x="800100" y="2695575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1020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2028"/>
                </a:solidFill>
                <a:latin typeface="Helvetica Neue"/>
                <a:ea typeface="Helvetica Neue"/>
                <a:cs typeface="Helvetica Neue"/>
              </a:rPr>
              <a:t>Import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E4524376-09F3-4B01-BE10-CD0056CA70EC}"/>
              </a:ext>
            </a:extLst>
          </p:cNvPr>
          <p:cNvSpPr>
            <a:spLocks noGrp="1"/>
          </p:cNvSpPr>
          <p:nvPr/>
        </p:nvSpPr>
        <p:spPr>
          <a:xfrm>
            <a:off x="800100" y="2962275"/>
            <a:ext cx="4857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5E6B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E6B73"/>
                </a:solidFill>
                <a:latin typeface="Helvetica Neue"/>
                <a:ea typeface="Helvetica Neue"/>
                <a:cs typeface="Helvetica Neue"/>
              </a:rPr>
              <a:t>Excel/CSV mit Adressen, Zeitfenstern und Prioritäten einlesen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887927B-A622-4168-836A-43119525DFCA}"/>
              </a:ext>
            </a:extLst>
          </p:cNvPr>
          <p:cNvSpPr>
            <a:spLocks noGrp="1"/>
          </p:cNvSpPr>
          <p:nvPr/>
        </p:nvSpPr>
        <p:spPr>
          <a:xfrm>
            <a:off x="400050" y="3409950"/>
            <a:ext cx="228600" cy="228600"/>
          </a:xfrm>
          <a:prstGeom prst="ellipse">
            <a:avLst/>
          </a:prstGeom>
          <a:solidFill>
            <a:srgbClr val="12B886"/>
          </a:solidFill>
          <a:ln w="0">
            <a:noFill/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0580EE44-A0A2-4A45-9973-5C8A59011DFB}"/>
              </a:ext>
            </a:extLst>
          </p:cNvPr>
          <p:cNvSpPr>
            <a:spLocks noGrp="1"/>
          </p:cNvSpPr>
          <p:nvPr/>
        </p:nvSpPr>
        <p:spPr>
          <a:xfrm>
            <a:off x="800100" y="3381375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1020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2028"/>
                </a:solidFill>
                <a:latin typeface="Helvetica Neue"/>
                <a:ea typeface="Helvetica Neue"/>
                <a:cs typeface="Helvetica Neue"/>
              </a:rPr>
              <a:t>Optimierung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BBF8B08C-A6FC-47F7-97B4-B5CBB01076B1}"/>
              </a:ext>
            </a:extLst>
          </p:cNvPr>
          <p:cNvSpPr>
            <a:spLocks noGrp="1"/>
          </p:cNvSpPr>
          <p:nvPr/>
        </p:nvSpPr>
        <p:spPr>
          <a:xfrm>
            <a:off x="800100" y="3648075"/>
            <a:ext cx="4857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5E6B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dirty="0" err="1">
                <a:solidFill>
                  <a:srgbClr val="5E6B73"/>
                </a:solidFill>
                <a:latin typeface="Helvetica Neue"/>
                <a:ea typeface="Helvetica Neue"/>
                <a:cs typeface="Helvetica Neue"/>
              </a:rPr>
              <a:t>Stopps</a:t>
            </a:r>
            <a:r>
              <a:rPr sz="1200" b="0" dirty="0">
                <a:solidFill>
                  <a:srgbClr val="5E6B73"/>
                </a:solidFill>
                <a:latin typeface="Helvetica Neue"/>
                <a:ea typeface="Helvetica Neue"/>
                <a:cs typeface="Helvetica Neue"/>
              </a:rPr>
              <a:t> auf der Karte </a:t>
            </a:r>
            <a:r>
              <a:rPr sz="1200" b="0" dirty="0" err="1">
                <a:solidFill>
                  <a:srgbClr val="5E6B73"/>
                </a:solidFill>
                <a:latin typeface="Helvetica Neue"/>
                <a:ea typeface="Helvetica Neue"/>
                <a:cs typeface="Helvetica Neue"/>
              </a:rPr>
              <a:t>ordnen</a:t>
            </a:r>
            <a:r>
              <a:rPr sz="1200" b="0" dirty="0">
                <a:solidFill>
                  <a:srgbClr val="5E6B73"/>
                </a:solidFill>
                <a:latin typeface="Helvetica Neue"/>
                <a:ea typeface="Helvetica Neue"/>
                <a:cs typeface="Helvetica Neue"/>
              </a:rPr>
              <a:t> und Route </a:t>
            </a:r>
            <a:r>
              <a:rPr sz="1200" b="0" dirty="0" err="1">
                <a:solidFill>
                  <a:srgbClr val="5E6B73"/>
                </a:solidFill>
                <a:latin typeface="Helvetica Neue"/>
                <a:ea typeface="Helvetica Neue"/>
                <a:cs typeface="Helvetica Neue"/>
              </a:rPr>
              <a:t>berechnen</a:t>
            </a:r>
            <a:endParaRPr sz="1200" b="0" dirty="0">
              <a:solidFill>
                <a:srgbClr val="5E6B73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9364A4A-2395-42B4-82F4-71C1AEB48392}"/>
              </a:ext>
            </a:extLst>
          </p:cNvPr>
          <p:cNvSpPr>
            <a:spLocks noGrp="1"/>
          </p:cNvSpPr>
          <p:nvPr/>
        </p:nvSpPr>
        <p:spPr>
          <a:xfrm>
            <a:off x="400050" y="4095750"/>
            <a:ext cx="228600" cy="228600"/>
          </a:xfrm>
          <a:prstGeom prst="ellipse">
            <a:avLst/>
          </a:prstGeom>
          <a:solidFill>
            <a:srgbClr val="12B886"/>
          </a:solidFill>
          <a:ln w="0">
            <a:noFill/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A361F39A-F11F-4326-AEA9-D0729F3E2251}"/>
              </a:ext>
            </a:extLst>
          </p:cNvPr>
          <p:cNvSpPr>
            <a:spLocks noGrp="1"/>
          </p:cNvSpPr>
          <p:nvPr/>
        </p:nvSpPr>
        <p:spPr>
          <a:xfrm>
            <a:off x="800100" y="4067175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1020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2028"/>
                </a:solidFill>
                <a:latin typeface="Helvetica Neue"/>
                <a:ea typeface="Helvetica Neue"/>
                <a:cs typeface="Helvetica Neue"/>
              </a:rPr>
              <a:t>Disposition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2B04DAD5-3540-4DF0-A179-848A206810B0}"/>
              </a:ext>
            </a:extLst>
          </p:cNvPr>
          <p:cNvSpPr>
            <a:spLocks noGrp="1"/>
          </p:cNvSpPr>
          <p:nvPr/>
        </p:nvSpPr>
        <p:spPr>
          <a:xfrm>
            <a:off x="800100" y="4333875"/>
            <a:ext cx="4857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5E6B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E6B73"/>
                </a:solidFill>
                <a:latin typeface="Helvetica Neue"/>
                <a:ea typeface="Helvetica Neue"/>
                <a:cs typeface="Helvetica Neue"/>
              </a:rPr>
              <a:t>Tour an Fahrer übergeben und Status transparent verfolgen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B8D7D5D-FB00-4F65-99D7-D143DD51CFF5}"/>
              </a:ext>
            </a:extLst>
          </p:cNvPr>
          <p:cNvSpPr>
            <a:spLocks noGrp="1"/>
          </p:cNvSpPr>
          <p:nvPr/>
        </p:nvSpPr>
        <p:spPr>
          <a:xfrm>
            <a:off x="400050" y="4781550"/>
            <a:ext cx="228600" cy="228600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1C948E9A-80E5-47A4-8B19-F043942A3CB7}"/>
              </a:ext>
            </a:extLst>
          </p:cNvPr>
          <p:cNvSpPr>
            <a:spLocks noGrp="1"/>
          </p:cNvSpPr>
          <p:nvPr/>
        </p:nvSpPr>
        <p:spPr>
          <a:xfrm>
            <a:off x="800100" y="4752975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1020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2028"/>
                </a:solidFill>
                <a:latin typeface="Helvetica Neue"/>
                <a:ea typeface="Helvetica Neue"/>
                <a:cs typeface="Helvetica Neue"/>
              </a:rPr>
              <a:t>KI-Inbox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458A7C67-3C9E-424C-A988-1D93729F9F83}"/>
              </a:ext>
            </a:extLst>
          </p:cNvPr>
          <p:cNvSpPr>
            <a:spLocks noGrp="1"/>
          </p:cNvSpPr>
          <p:nvPr/>
        </p:nvSpPr>
        <p:spPr>
          <a:xfrm>
            <a:off x="800100" y="5019675"/>
            <a:ext cx="4857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5E6B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E6B73"/>
                </a:solidFill>
                <a:latin typeface="Helvetica Neue"/>
                <a:ea typeface="Helvetica Neue"/>
                <a:cs typeface="Helvetica Neue"/>
              </a:rPr>
              <a:t>E-Mails als prüfbare Termin- oder Änderungs-Vorschläge nutzen</a:t>
            </a:r>
          </a:p>
        </p:txBody>
      </p:sp>
      <p:pic>
        <p:nvPicPr>
          <p:cNvPr id="36" name="Grafik 35"/>
          <p:cNvPicPr>
            <a:picLocks noChangeAspect="1"/>
          </p:cNvPicPr>
          <p:nvPr/>
        </p:nvPicPr>
        <p:blipFill>
          <a:blip r:embed="rId3"/>
          <a:srcRect l="11976" r="11976"/>
          <a:stretch>
            <a:fillRect/>
          </a:stretch>
        </p:blipFill>
        <p:spPr>
          <a:xfrm>
            <a:off x="6343650" y="685800"/>
            <a:ext cx="5238750" cy="4933950"/>
          </a:xfrm>
          <a:prstGeom prst="roundRect">
            <a:avLst>
              <a:gd name="adj" fmla="val 3089"/>
            </a:avLst>
          </a:prstGeom>
        </p:spPr>
      </p:pic>
      <p:sp>
        <p:nvSpPr>
          <p:cNvPr id="17" name="Abgerundetes Rechteck 16">
            <a:extLst>
              <a:ext uri="{FF2B5EF4-FFF2-40B4-BE49-F238E27FC236}">
                <a16:creationId xmlns:a16="http://schemas.microsoft.com/office/drawing/2014/main" id="{69BDFDEA-430D-45A9-BB66-DE8DD0E37B24}"/>
              </a:ext>
            </a:extLst>
          </p:cNvPr>
          <p:cNvSpPr>
            <a:spLocks noGrp="1"/>
          </p:cNvSpPr>
          <p:nvPr/>
        </p:nvSpPr>
        <p:spPr>
          <a:xfrm>
            <a:off x="6343650" y="685800"/>
            <a:ext cx="5238750" cy="4933950"/>
          </a:xfrm>
          <a:prstGeom prst="roundRect">
            <a:avLst>
              <a:gd name="adj" fmla="val 3089"/>
            </a:avLst>
          </a:prstGeom>
          <a:noFill/>
          <a:ln w="9525">
            <a:solidFill>
              <a:srgbClr val="C9D5D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Gerade Verbindung 17">
            <a:extLst>
              <a:ext uri="{FF2B5EF4-FFF2-40B4-BE49-F238E27FC236}">
                <a16:creationId xmlns:a16="http://schemas.microsoft.com/office/drawing/2014/main" id="{621F506E-B827-41A6-ADC6-744ADBDA9062}"/>
              </a:ext>
            </a:extLst>
          </p:cNvPr>
          <p:cNvSpPr>
            <a:spLocks noGrp="1"/>
          </p:cNvSpPr>
          <p:nvPr/>
        </p:nvSpPr>
        <p:spPr>
          <a:xfrm>
            <a:off x="400050" y="6267450"/>
            <a:ext cx="11391900" cy="0"/>
          </a:xfrm>
          <a:prstGeom prst="line">
            <a:avLst/>
          </a:prstGeom>
          <a:noFill/>
          <a:ln w="9525">
            <a:solidFill>
              <a:srgbClr val="C9D5D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FFD3A44B-E5D9-4973-9B33-D62FF037C0C4}"/>
              </a:ext>
            </a:extLst>
          </p:cNvPr>
          <p:cNvSpPr>
            <a:spLocks noGrp="1"/>
          </p:cNvSpPr>
          <p:nvPr/>
        </p:nvSpPr>
        <p:spPr>
          <a:xfrm>
            <a:off x="400050" y="6410325"/>
            <a:ext cx="800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50" b="0">
                <a:solidFill>
                  <a:srgbClr val="5E6B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E6B73"/>
                </a:solidFill>
                <a:latin typeface="Helvetica Neue"/>
                <a:ea typeface="Helvetica Neue"/>
                <a:cs typeface="Helvetica Neue"/>
              </a:rPr>
              <a:t>Quellen: Kundengespräch · AutomateX Produktstand · automate-x-solutions.de (17.07.2026)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2172011E-DA37-46EF-BB88-383628FFF57B}"/>
              </a:ext>
            </a:extLst>
          </p:cNvPr>
          <p:cNvSpPr>
            <a:spLocks noGrp="1"/>
          </p:cNvSpPr>
          <p:nvPr/>
        </p:nvSpPr>
        <p:spPr>
          <a:xfrm>
            <a:off x="11277600" y="6381750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1">
                <a:solidFill>
                  <a:srgbClr val="1020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02028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81368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hteck 19">
            <a:extLst>
              <a:ext uri="{FF2B5EF4-FFF2-40B4-BE49-F238E27FC236}">
                <a16:creationId xmlns:a16="http://schemas.microsoft.com/office/drawing/2014/main" id="{851CFD01-B223-4944-9622-577AE8D5CE9D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190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12B8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2B886"/>
                </a:solidFill>
                <a:latin typeface="Helvetica Neue"/>
                <a:ea typeface="Helvetica Neue"/>
                <a:cs typeface="Helvetica Neue"/>
              </a:rPr>
              <a:t>LIVE-DEMO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5E577F76-9E76-43E9-B707-0E48A47FB632}"/>
              </a:ext>
            </a:extLst>
          </p:cNvPr>
          <p:cNvSpPr>
            <a:spLocks noGrp="1"/>
          </p:cNvSpPr>
          <p:nvPr/>
        </p:nvSpPr>
        <p:spPr>
          <a:xfrm>
            <a:off x="400050" y="723900"/>
            <a:ext cx="8096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000" b="1">
                <a:solidFill>
                  <a:srgbClr val="1020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2028"/>
                </a:solidFill>
                <a:latin typeface="Helvetica Neue"/>
                <a:ea typeface="Helvetica Neue"/>
                <a:cs typeface="Helvetica Neue"/>
              </a:rPr>
              <a:t>So übersetzen wir Ihre Planung</a:t>
            </a:r>
          </a:p>
          <a:p>
            <a:pPr algn="l">
              <a:defRPr sz="3000" b="1">
                <a:solidFill>
                  <a:srgbClr val="1020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2028"/>
                </a:solidFill>
                <a:latin typeface="Helvetica Neue"/>
                <a:ea typeface="Helvetica Neue"/>
                <a:cs typeface="Helvetica Neue"/>
              </a:rPr>
              <a:t>in einen digitalen Tagesablauf.</a:t>
            </a:r>
          </a:p>
        </p:txBody>
      </p:sp>
      <p:sp>
        <p:nvSpPr>
          <p:cNvPr id="3" name="Gerade Verbindung 2">
            <a:extLst>
              <a:ext uri="{FF2B5EF4-FFF2-40B4-BE49-F238E27FC236}">
                <a16:creationId xmlns:a16="http://schemas.microsoft.com/office/drawing/2014/main" id="{C2B8F413-5E15-4D8A-9FE1-C9828139FB6B}"/>
              </a:ext>
            </a:extLst>
          </p:cNvPr>
          <p:cNvSpPr>
            <a:spLocks noGrp="1"/>
          </p:cNvSpPr>
          <p:nvPr/>
        </p:nvSpPr>
        <p:spPr>
          <a:xfrm>
            <a:off x="619125" y="3219450"/>
            <a:ext cx="10287000" cy="0"/>
          </a:xfrm>
          <a:prstGeom prst="line">
            <a:avLst/>
          </a:prstGeom>
          <a:noFill/>
          <a:ln w="9525">
            <a:solidFill>
              <a:srgbClr val="10202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ED0760F-1C8B-463D-BC83-165BCF007D6E}"/>
              </a:ext>
            </a:extLst>
          </p:cNvPr>
          <p:cNvSpPr>
            <a:spLocks noGrp="1"/>
          </p:cNvSpPr>
          <p:nvPr/>
        </p:nvSpPr>
        <p:spPr>
          <a:xfrm>
            <a:off x="400050" y="2981325"/>
            <a:ext cx="476250" cy="476250"/>
          </a:xfrm>
          <a:prstGeom prst="ellipse">
            <a:avLst/>
          </a:prstGeom>
          <a:solidFill>
            <a:srgbClr val="12B886"/>
          </a:solidFill>
          <a:ln w="0">
            <a:noFill/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E5C599BB-8A54-4B85-AE51-037BA1662F48}"/>
              </a:ext>
            </a:extLst>
          </p:cNvPr>
          <p:cNvSpPr>
            <a:spLocks noGrp="1"/>
          </p:cNvSpPr>
          <p:nvPr/>
        </p:nvSpPr>
        <p:spPr>
          <a:xfrm>
            <a:off x="400050" y="3105150"/>
            <a:ext cx="476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B0BAAE1C-3F10-43DA-B457-CDE63DCD81B6}"/>
              </a:ext>
            </a:extLst>
          </p:cNvPr>
          <p:cNvSpPr>
            <a:spLocks noGrp="1"/>
          </p:cNvSpPr>
          <p:nvPr/>
        </p:nvSpPr>
        <p:spPr>
          <a:xfrm>
            <a:off x="400050" y="3714750"/>
            <a:ext cx="31908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1020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2028"/>
                </a:solidFill>
                <a:latin typeface="Helvetica Neue"/>
                <a:ea typeface="Helvetica Neue"/>
                <a:cs typeface="Helvetica Neue"/>
              </a:rPr>
              <a:t>Tagesliste einlesen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17F85282-CFD8-41F2-A963-8745FABBB394}"/>
              </a:ext>
            </a:extLst>
          </p:cNvPr>
          <p:cNvSpPr>
            <a:spLocks noGrp="1"/>
          </p:cNvSpPr>
          <p:nvPr/>
        </p:nvSpPr>
        <p:spPr>
          <a:xfrm>
            <a:off x="400050" y="4191000"/>
            <a:ext cx="33337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5E6B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6B73"/>
                </a:solidFill>
                <a:latin typeface="Helvetica Neue"/>
                <a:ea typeface="Helvetica Neue"/>
                <a:cs typeface="Helvetica Neue"/>
              </a:rPr>
              <a:t>Eine repräsentative Liste importieren und Felder gemeinsam prüfen.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81E5A39-6E00-406A-8054-6F7144B6F4DB}"/>
              </a:ext>
            </a:extLst>
          </p:cNvPr>
          <p:cNvSpPr>
            <a:spLocks noGrp="1"/>
          </p:cNvSpPr>
          <p:nvPr/>
        </p:nvSpPr>
        <p:spPr>
          <a:xfrm>
            <a:off x="4286250" y="2981325"/>
            <a:ext cx="476250" cy="476250"/>
          </a:xfrm>
          <a:prstGeom prst="ellipse">
            <a:avLst/>
          </a:prstGeom>
          <a:solidFill>
            <a:srgbClr val="12B886"/>
          </a:solidFill>
          <a:ln w="0">
            <a:noFill/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55BB8115-8949-4512-8B4C-1A9E2A26CB72}"/>
              </a:ext>
            </a:extLst>
          </p:cNvPr>
          <p:cNvSpPr>
            <a:spLocks noGrp="1"/>
          </p:cNvSpPr>
          <p:nvPr/>
        </p:nvSpPr>
        <p:spPr>
          <a:xfrm>
            <a:off x="4286250" y="3105150"/>
            <a:ext cx="476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1D5D02B-7DA0-44E7-B88F-87C41E64F51E}"/>
              </a:ext>
            </a:extLst>
          </p:cNvPr>
          <p:cNvSpPr>
            <a:spLocks noGrp="1"/>
          </p:cNvSpPr>
          <p:nvPr/>
        </p:nvSpPr>
        <p:spPr>
          <a:xfrm>
            <a:off x="4286250" y="3714750"/>
            <a:ext cx="31908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1020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2028"/>
                </a:solidFill>
                <a:latin typeface="Helvetica Neue"/>
                <a:ea typeface="Helvetica Neue"/>
                <a:cs typeface="Helvetica Neue"/>
              </a:rPr>
              <a:t>Tour berechnen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4B4206E3-8BDA-4B2E-9DC1-19270BE87FA8}"/>
              </a:ext>
            </a:extLst>
          </p:cNvPr>
          <p:cNvSpPr>
            <a:spLocks noGrp="1"/>
          </p:cNvSpPr>
          <p:nvPr/>
        </p:nvSpPr>
        <p:spPr>
          <a:xfrm>
            <a:off x="4286250" y="4191000"/>
            <a:ext cx="33337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5E6B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6B73"/>
                </a:solidFill>
                <a:latin typeface="Helvetica Neue"/>
                <a:ea typeface="Helvetica Neue"/>
                <a:cs typeface="Helvetica Neue"/>
              </a:rPr>
              <a:t>3–4 Termine pro Tag nach Gebiet, Zeitfenster und Priorität anordnen.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AAD196A-ECB0-4E85-AA6B-05E57D74A690}"/>
              </a:ext>
            </a:extLst>
          </p:cNvPr>
          <p:cNvSpPr>
            <a:spLocks noGrp="1"/>
          </p:cNvSpPr>
          <p:nvPr/>
        </p:nvSpPr>
        <p:spPr>
          <a:xfrm>
            <a:off x="8172450" y="2981325"/>
            <a:ext cx="476250" cy="476250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5EC7E651-69CC-4A44-972D-C1544AE94711}"/>
              </a:ext>
            </a:extLst>
          </p:cNvPr>
          <p:cNvSpPr>
            <a:spLocks noGrp="1"/>
          </p:cNvSpPr>
          <p:nvPr/>
        </p:nvSpPr>
        <p:spPr>
          <a:xfrm>
            <a:off x="8172450" y="3105150"/>
            <a:ext cx="476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A17025A8-A00E-490E-BBF5-0D2700A5EA5E}"/>
              </a:ext>
            </a:extLst>
          </p:cNvPr>
          <p:cNvSpPr>
            <a:spLocks noGrp="1"/>
          </p:cNvSpPr>
          <p:nvPr/>
        </p:nvSpPr>
        <p:spPr>
          <a:xfrm>
            <a:off x="8172450" y="3714750"/>
            <a:ext cx="31908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1020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2028"/>
                </a:solidFill>
                <a:latin typeface="Helvetica Neue"/>
                <a:ea typeface="Helvetica Neue"/>
                <a:cs typeface="Helvetica Neue"/>
              </a:rPr>
              <a:t>Änderung durchspielen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D594233F-DE56-492C-9978-DC7D4F504D19}"/>
              </a:ext>
            </a:extLst>
          </p:cNvPr>
          <p:cNvSpPr>
            <a:spLocks noGrp="1"/>
          </p:cNvSpPr>
          <p:nvPr/>
        </p:nvSpPr>
        <p:spPr>
          <a:xfrm>
            <a:off x="8172450" y="4191000"/>
            <a:ext cx="33337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5E6B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6B73"/>
                </a:solidFill>
                <a:latin typeface="Helvetica Neue"/>
                <a:ea typeface="Helvetica Neue"/>
                <a:cs typeface="Helvetica Neue"/>
              </a:rPr>
              <a:t>Absage oder neuer Termin: Vorschlag prüfen, Resttour neu planen, Fahreransicht zeigen.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4B3C3B46-6624-4A30-8FA8-51E12CFBD90E}"/>
              </a:ext>
            </a:extLst>
          </p:cNvPr>
          <p:cNvSpPr>
            <a:spLocks noGrp="1"/>
          </p:cNvSpPr>
          <p:nvPr/>
        </p:nvSpPr>
        <p:spPr>
          <a:xfrm>
            <a:off x="400050" y="5524500"/>
            <a:ext cx="1000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073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73B3A"/>
                </a:solidFill>
                <a:latin typeface="Helvetica Neue"/>
                <a:ea typeface="Helvetica Neue"/>
                <a:cs typeface="Helvetica Neue"/>
              </a:rPr>
              <a:t>Ergebnis der Demo: eine nachvollziehbare Tour – und offene Regeln, die wir für den Pilot konkretisieren.</a:t>
            </a:r>
          </a:p>
        </p:txBody>
      </p:sp>
      <p:sp>
        <p:nvSpPr>
          <p:cNvPr id="17" name="Gerade Verbindung 16">
            <a:extLst>
              <a:ext uri="{FF2B5EF4-FFF2-40B4-BE49-F238E27FC236}">
                <a16:creationId xmlns:a16="http://schemas.microsoft.com/office/drawing/2014/main" id="{A5B00FD5-CA0A-44C1-875C-9762970E25D7}"/>
              </a:ext>
            </a:extLst>
          </p:cNvPr>
          <p:cNvSpPr>
            <a:spLocks noGrp="1"/>
          </p:cNvSpPr>
          <p:nvPr/>
        </p:nvSpPr>
        <p:spPr>
          <a:xfrm>
            <a:off x="400050" y="6267450"/>
            <a:ext cx="11391900" cy="0"/>
          </a:xfrm>
          <a:prstGeom prst="line">
            <a:avLst/>
          </a:prstGeom>
          <a:noFill/>
          <a:ln w="9525">
            <a:solidFill>
              <a:srgbClr val="C9D5D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F7D8491F-572C-405A-95A9-CE0D9938A0E2}"/>
              </a:ext>
            </a:extLst>
          </p:cNvPr>
          <p:cNvSpPr>
            <a:spLocks noGrp="1"/>
          </p:cNvSpPr>
          <p:nvPr/>
        </p:nvSpPr>
        <p:spPr>
          <a:xfrm>
            <a:off x="400050" y="6410325"/>
            <a:ext cx="800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50" b="0">
                <a:solidFill>
                  <a:srgbClr val="5E6B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E6B73"/>
                </a:solidFill>
                <a:latin typeface="Helvetica Neue"/>
                <a:ea typeface="Helvetica Neue"/>
                <a:cs typeface="Helvetica Neue"/>
              </a:rPr>
              <a:t>Quellen: Kundengespräch · AutomateX Produktstand · automate-x-solutions.de (17.07.2026)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01263AC5-200A-48A2-8D57-CEE34A76689C}"/>
              </a:ext>
            </a:extLst>
          </p:cNvPr>
          <p:cNvSpPr>
            <a:spLocks noGrp="1"/>
          </p:cNvSpPr>
          <p:nvPr/>
        </p:nvSpPr>
        <p:spPr>
          <a:xfrm>
            <a:off x="11277600" y="6381750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1">
                <a:solidFill>
                  <a:srgbClr val="1020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02028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36671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532D6810-934B-46F5-A21E-84B9DA00D0CA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228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12B8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2B886"/>
                </a:solidFill>
                <a:latin typeface="Helvetica Neue"/>
                <a:ea typeface="Helvetica Neue"/>
                <a:cs typeface="Helvetica Neue"/>
              </a:rPr>
              <a:t>PILOTVORSCHLAG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86EE3618-F994-423E-9030-616B88DC199F}"/>
              </a:ext>
            </a:extLst>
          </p:cNvPr>
          <p:cNvSpPr>
            <a:spLocks noGrp="1"/>
          </p:cNvSpPr>
          <p:nvPr/>
        </p:nvSpPr>
        <p:spPr>
          <a:xfrm>
            <a:off x="400050" y="723900"/>
            <a:ext cx="7620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000" b="1">
                <a:solidFill>
                  <a:srgbClr val="1020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2028"/>
                </a:solidFill>
                <a:latin typeface="Helvetica Neue"/>
                <a:ea typeface="Helvetica Neue"/>
                <a:cs typeface="Helvetica Neue"/>
              </a:rPr>
              <a:t>Der Pilot zeigt den Wert anhand</a:t>
            </a:r>
          </a:p>
          <a:p>
            <a:pPr algn="l">
              <a:defRPr sz="3000" b="1">
                <a:solidFill>
                  <a:srgbClr val="1020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2028"/>
                </a:solidFill>
                <a:latin typeface="Helvetica Neue"/>
                <a:ea typeface="Helvetica Neue"/>
                <a:cs typeface="Helvetica Neue"/>
              </a:rPr>
              <a:t>Ihrer echten Routen.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09AEABF8-6C22-4BFF-84A8-7CF4FE35603F}"/>
              </a:ext>
            </a:extLst>
          </p:cNvPr>
          <p:cNvSpPr>
            <a:spLocks noGrp="1"/>
          </p:cNvSpPr>
          <p:nvPr/>
        </p:nvSpPr>
        <p:spPr>
          <a:xfrm>
            <a:off x="400050" y="1905000"/>
            <a:ext cx="933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5E6B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E6B73"/>
                </a:solidFill>
                <a:latin typeface="Helvetica Neue"/>
                <a:ea typeface="Helvetica Neue"/>
                <a:cs typeface="Helvetica Neue"/>
              </a:rPr>
              <a:t>Kein Großprojekt: Wir testen zuerst mit klar abgegrenzten Daten, Regeln und Kennzahlen.</a:t>
            </a:r>
          </a:p>
        </p:txBody>
      </p:sp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E50C5DC5-73DB-44C1-9A25-B21E2BB52A55}"/>
              </a:ext>
            </a:extLst>
          </p:cNvPr>
          <p:cNvSpPr>
            <a:spLocks noGrp="1"/>
          </p:cNvSpPr>
          <p:nvPr/>
        </p:nvSpPr>
        <p:spPr>
          <a:xfrm>
            <a:off x="400050" y="3028950"/>
            <a:ext cx="3562350" cy="2609850"/>
          </a:xfrm>
          <a:prstGeom prst="roundRect">
            <a:avLst>
              <a:gd name="adj" fmla="val 5839"/>
            </a:avLst>
          </a:prstGeom>
          <a:solidFill>
            <a:srgbClr val="F3F7F6"/>
          </a:solidFill>
          <a:ln w="9525">
            <a:solidFill>
              <a:srgbClr val="C9D5D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9458A3BD-BE09-4203-BB97-C57FDACE841D}"/>
              </a:ext>
            </a:extLst>
          </p:cNvPr>
          <p:cNvSpPr>
            <a:spLocks noGrp="1"/>
          </p:cNvSpPr>
          <p:nvPr/>
        </p:nvSpPr>
        <p:spPr>
          <a:xfrm>
            <a:off x="685800" y="3295650"/>
            <a:ext cx="666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12B8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2B886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EB3BC6E6-9416-40EF-B96E-843F5AD4042F}"/>
              </a:ext>
            </a:extLst>
          </p:cNvPr>
          <p:cNvSpPr>
            <a:spLocks noGrp="1"/>
          </p:cNvSpPr>
          <p:nvPr/>
        </p:nvSpPr>
        <p:spPr>
          <a:xfrm>
            <a:off x="685800" y="379095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 b="1">
                <a:solidFill>
                  <a:srgbClr val="1020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02028"/>
                </a:solidFill>
                <a:latin typeface="Helvetica Neue"/>
                <a:ea typeface="Helvetica Neue"/>
                <a:cs typeface="Helvetica Neue"/>
              </a:rPr>
              <a:t>Vorbereiten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1A3D84F-64C5-4213-B05A-B4E750F3A922}"/>
              </a:ext>
            </a:extLst>
          </p:cNvPr>
          <p:cNvSpPr>
            <a:spLocks noGrp="1"/>
          </p:cNvSpPr>
          <p:nvPr/>
        </p:nvSpPr>
        <p:spPr>
          <a:xfrm>
            <a:off x="685800" y="428625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073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73B3A"/>
                </a:solidFill>
                <a:latin typeface="Helvetica Neue"/>
                <a:ea typeface="Helvetica Neue"/>
                <a:cs typeface="Helvetica Neue"/>
              </a:rPr>
              <a:t>Repräsentativen Datenexport auswählen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CD2246E3-14A1-480D-8E55-E6B597FE0A5A}"/>
              </a:ext>
            </a:extLst>
          </p:cNvPr>
          <p:cNvSpPr>
            <a:spLocks noGrp="1"/>
          </p:cNvSpPr>
          <p:nvPr/>
        </p:nvSpPr>
        <p:spPr>
          <a:xfrm>
            <a:off x="685800" y="4857750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5E6B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E6B73"/>
                </a:solidFill>
                <a:latin typeface="Helvetica Neue"/>
                <a:ea typeface="Helvetica Neue"/>
                <a:cs typeface="Helvetica Neue"/>
              </a:rPr>
              <a:t>Adressen, Zeitfenster, Servicezeiten und Prioritäten prüfen.</a:t>
            </a:r>
          </a:p>
        </p:txBody>
      </p:sp>
      <p:sp>
        <p:nvSpPr>
          <p:cNvPr id="9" name="Abgerundetes Rechteck 8">
            <a:extLst>
              <a:ext uri="{FF2B5EF4-FFF2-40B4-BE49-F238E27FC236}">
                <a16:creationId xmlns:a16="http://schemas.microsoft.com/office/drawing/2014/main" id="{216D02AF-E429-485D-BBCA-3A16DECF3AC5}"/>
              </a:ext>
            </a:extLst>
          </p:cNvPr>
          <p:cNvSpPr>
            <a:spLocks noGrp="1"/>
          </p:cNvSpPr>
          <p:nvPr/>
        </p:nvSpPr>
        <p:spPr>
          <a:xfrm>
            <a:off x="4286250" y="3028950"/>
            <a:ext cx="3562350" cy="2609850"/>
          </a:xfrm>
          <a:prstGeom prst="roundRect">
            <a:avLst>
              <a:gd name="adj" fmla="val 5839"/>
            </a:avLst>
          </a:prstGeom>
          <a:solidFill>
            <a:srgbClr val="F3F7F6"/>
          </a:solidFill>
          <a:ln w="9525">
            <a:solidFill>
              <a:srgbClr val="C9D5D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6CCE0593-9F07-4782-88D0-B2BF2CACD8ED}"/>
              </a:ext>
            </a:extLst>
          </p:cNvPr>
          <p:cNvSpPr>
            <a:spLocks noGrp="1"/>
          </p:cNvSpPr>
          <p:nvPr/>
        </p:nvSpPr>
        <p:spPr>
          <a:xfrm>
            <a:off x="4572000" y="3295650"/>
            <a:ext cx="666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12B8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2B88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F151AD23-6502-4D3A-A079-249D2C995147}"/>
              </a:ext>
            </a:extLst>
          </p:cNvPr>
          <p:cNvSpPr>
            <a:spLocks noGrp="1"/>
          </p:cNvSpPr>
          <p:nvPr/>
        </p:nvSpPr>
        <p:spPr>
          <a:xfrm>
            <a:off x="4572000" y="379095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 b="1">
                <a:solidFill>
                  <a:srgbClr val="1020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02028"/>
                </a:solidFill>
                <a:latin typeface="Helvetica Neue"/>
                <a:ea typeface="Helvetica Neue"/>
                <a:cs typeface="Helvetica Neue"/>
              </a:rPr>
              <a:t>Testen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538DCAFA-E6F6-4E7C-85D0-82F75D2CE818}"/>
              </a:ext>
            </a:extLst>
          </p:cNvPr>
          <p:cNvSpPr>
            <a:spLocks noGrp="1"/>
          </p:cNvSpPr>
          <p:nvPr/>
        </p:nvSpPr>
        <p:spPr>
          <a:xfrm>
            <a:off x="4572000" y="428625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073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73B3A"/>
                </a:solidFill>
                <a:latin typeface="Helvetica Neue"/>
                <a:ea typeface="Helvetica Neue"/>
                <a:cs typeface="Helvetica Neue"/>
              </a:rPr>
              <a:t>Eine oder mehrere Tagesrouten planen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6303F16D-D628-490A-A1DD-2C1EB767248F}"/>
              </a:ext>
            </a:extLst>
          </p:cNvPr>
          <p:cNvSpPr>
            <a:spLocks noGrp="1"/>
          </p:cNvSpPr>
          <p:nvPr/>
        </p:nvSpPr>
        <p:spPr>
          <a:xfrm>
            <a:off x="4572000" y="4857750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5E6B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E6B73"/>
                </a:solidFill>
                <a:latin typeface="Helvetica Neue"/>
                <a:ea typeface="Helvetica Neue"/>
                <a:cs typeface="Helvetica Neue"/>
              </a:rPr>
              <a:t>Planungslogik, Änderungen und Fahrerübergabe gemeinsam durchspielen.</a:t>
            </a:r>
          </a:p>
        </p:txBody>
      </p:sp>
      <p:sp>
        <p:nvSpPr>
          <p:cNvPr id="14" name="Abgerundetes Rechteck 13">
            <a:extLst>
              <a:ext uri="{FF2B5EF4-FFF2-40B4-BE49-F238E27FC236}">
                <a16:creationId xmlns:a16="http://schemas.microsoft.com/office/drawing/2014/main" id="{662EFB00-803D-450F-9F89-F2ECBA4F5170}"/>
              </a:ext>
            </a:extLst>
          </p:cNvPr>
          <p:cNvSpPr>
            <a:spLocks noGrp="1"/>
          </p:cNvSpPr>
          <p:nvPr/>
        </p:nvSpPr>
        <p:spPr>
          <a:xfrm>
            <a:off x="8172450" y="3028950"/>
            <a:ext cx="3562350" cy="2609850"/>
          </a:xfrm>
          <a:prstGeom prst="roundRect">
            <a:avLst>
              <a:gd name="adj" fmla="val 5839"/>
            </a:avLst>
          </a:prstGeom>
          <a:solidFill>
            <a:srgbClr val="F3F7F6"/>
          </a:solidFill>
          <a:ln w="9525">
            <a:solidFill>
              <a:srgbClr val="C9D5D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FC4F54D1-61B9-4A0D-8842-9DE8190B4D81}"/>
              </a:ext>
            </a:extLst>
          </p:cNvPr>
          <p:cNvSpPr>
            <a:spLocks noGrp="1"/>
          </p:cNvSpPr>
          <p:nvPr/>
        </p:nvSpPr>
        <p:spPr>
          <a:xfrm>
            <a:off x="8458200" y="3295650"/>
            <a:ext cx="666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12B8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2B88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546FC912-5F5E-47AF-BE4D-E3D349675FB5}"/>
              </a:ext>
            </a:extLst>
          </p:cNvPr>
          <p:cNvSpPr>
            <a:spLocks noGrp="1"/>
          </p:cNvSpPr>
          <p:nvPr/>
        </p:nvSpPr>
        <p:spPr>
          <a:xfrm>
            <a:off x="8458200" y="379095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 b="1">
                <a:solidFill>
                  <a:srgbClr val="1020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02028"/>
                </a:solidFill>
                <a:latin typeface="Helvetica Neue"/>
                <a:ea typeface="Helvetica Neue"/>
                <a:cs typeface="Helvetica Neue"/>
              </a:rPr>
              <a:t>Messen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F2C346E9-29DD-469B-9B77-C1C44D6B702A}"/>
              </a:ext>
            </a:extLst>
          </p:cNvPr>
          <p:cNvSpPr>
            <a:spLocks noGrp="1"/>
          </p:cNvSpPr>
          <p:nvPr/>
        </p:nvSpPr>
        <p:spPr>
          <a:xfrm>
            <a:off x="8458200" y="428625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073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73B3A"/>
                </a:solidFill>
                <a:latin typeface="Helvetica Neue"/>
                <a:ea typeface="Helvetica Neue"/>
                <a:cs typeface="Helvetica Neue"/>
              </a:rPr>
              <a:t>Vorher/Nachher transparent vergleichen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836EDDBE-9113-4947-820B-E68BEC0B8CAE}"/>
              </a:ext>
            </a:extLst>
          </p:cNvPr>
          <p:cNvSpPr>
            <a:spLocks noGrp="1"/>
          </p:cNvSpPr>
          <p:nvPr/>
        </p:nvSpPr>
        <p:spPr>
          <a:xfrm>
            <a:off x="8458200" y="4857750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5E6B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E6B73"/>
                </a:solidFill>
                <a:latin typeface="Helvetica Neue"/>
                <a:ea typeface="Helvetica Neue"/>
                <a:cs typeface="Helvetica Neue"/>
              </a:rPr>
              <a:t>Planungszeit, Fahrzeit, Kilometer und Terminqualität auswerten.</a:t>
            </a:r>
          </a:p>
        </p:txBody>
      </p:sp>
      <p:sp>
        <p:nvSpPr>
          <p:cNvPr id="19" name="Gerade Verbindung 18">
            <a:extLst>
              <a:ext uri="{FF2B5EF4-FFF2-40B4-BE49-F238E27FC236}">
                <a16:creationId xmlns:a16="http://schemas.microsoft.com/office/drawing/2014/main" id="{197FC586-97E3-40B0-9A42-AFC73443EC6B}"/>
              </a:ext>
            </a:extLst>
          </p:cNvPr>
          <p:cNvSpPr>
            <a:spLocks noGrp="1"/>
          </p:cNvSpPr>
          <p:nvPr/>
        </p:nvSpPr>
        <p:spPr>
          <a:xfrm>
            <a:off x="400050" y="6267450"/>
            <a:ext cx="11391900" cy="0"/>
          </a:xfrm>
          <a:prstGeom prst="line">
            <a:avLst/>
          </a:prstGeom>
          <a:noFill/>
          <a:ln w="9525">
            <a:solidFill>
              <a:srgbClr val="C9D5D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0B8D4FD5-CE85-4A4A-A2BF-22335BD3D432}"/>
              </a:ext>
            </a:extLst>
          </p:cNvPr>
          <p:cNvSpPr>
            <a:spLocks noGrp="1"/>
          </p:cNvSpPr>
          <p:nvPr/>
        </p:nvSpPr>
        <p:spPr>
          <a:xfrm>
            <a:off x="400050" y="6410325"/>
            <a:ext cx="800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50" b="0">
                <a:solidFill>
                  <a:srgbClr val="5E6B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E6B73"/>
                </a:solidFill>
                <a:latin typeface="Helvetica Neue"/>
                <a:ea typeface="Helvetica Neue"/>
                <a:cs typeface="Helvetica Neue"/>
              </a:rPr>
              <a:t>Quellen: Kundengespräch · AutomateX Produktstand · automate-x-solutions.de (17.07.2026)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527E8AD9-3CF5-4DE6-8B71-30EF89D5630C}"/>
              </a:ext>
            </a:extLst>
          </p:cNvPr>
          <p:cNvSpPr>
            <a:spLocks noGrp="1"/>
          </p:cNvSpPr>
          <p:nvPr/>
        </p:nvSpPr>
        <p:spPr>
          <a:xfrm>
            <a:off x="11277600" y="6381750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1">
                <a:solidFill>
                  <a:srgbClr val="1020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02028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993275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3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CCAF0E74-115C-48C5-B1A8-A5FB332FB9C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3B3A"/>
          </a:solidFill>
          <a:ln w="0">
            <a:noFill/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3" name="Grafik 12"/>
          <p:cNvPicPr>
            <a:picLocks noChangeAspect="1"/>
          </p:cNvPicPr>
          <p:nvPr/>
        </p:nvPicPr>
        <p:blipFill>
          <a:blip r:embed="rId3"/>
          <a:srcRect l="24795" r="24795"/>
          <a:stretch>
            <a:fillRect/>
          </a:stretch>
        </p:blipFill>
        <p:spPr>
          <a:xfrm>
            <a:off x="7620000" y="514350"/>
            <a:ext cx="3905250" cy="4572000"/>
          </a:xfrm>
          <a:prstGeom prst="roundRect">
            <a:avLst>
              <a:gd name="adj" fmla="val 3902"/>
            </a:avLst>
          </a:prstGeom>
        </p:spPr>
      </p:pic>
      <p:sp>
        <p:nvSpPr>
          <p:cNvPr id="3" name="Abgerundetes Rechteck 2">
            <a:extLst>
              <a:ext uri="{FF2B5EF4-FFF2-40B4-BE49-F238E27FC236}">
                <a16:creationId xmlns:a16="http://schemas.microsoft.com/office/drawing/2014/main" id="{81494ADB-C1A7-4436-97B1-5E0AAAA867DE}"/>
              </a:ext>
            </a:extLst>
          </p:cNvPr>
          <p:cNvSpPr>
            <a:spLocks noGrp="1"/>
          </p:cNvSpPr>
          <p:nvPr/>
        </p:nvSpPr>
        <p:spPr>
          <a:xfrm>
            <a:off x="7620000" y="514350"/>
            <a:ext cx="3905250" cy="4572000"/>
          </a:xfrm>
          <a:prstGeom prst="roundRect">
            <a:avLst>
              <a:gd name="adj" fmla="val 3902"/>
            </a:avLst>
          </a:prstGeom>
          <a:noFill/>
          <a:ln w="9525">
            <a:solidFill>
              <a:srgbClr val="79A9A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0FE3DB69-BE3E-4660-8A8C-2A63CFCF3584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228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DDF5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DDF56A"/>
                </a:solidFill>
                <a:latin typeface="Helvetica Neue"/>
                <a:ea typeface="Helvetica Neue"/>
                <a:cs typeface="Helvetica Neue"/>
              </a:rPr>
              <a:t>NÄCHSTER SCHRITT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A42DC44A-709E-4C2C-B870-E90583C7CC99}"/>
              </a:ext>
            </a:extLst>
          </p:cNvPr>
          <p:cNvSpPr>
            <a:spLocks noGrp="1"/>
          </p:cNvSpPr>
          <p:nvPr/>
        </p:nvSpPr>
        <p:spPr>
          <a:xfrm>
            <a:off x="400050" y="1066800"/>
            <a:ext cx="6477000" cy="195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Gemeinsam entscheiden wir</a:t>
            </a:r>
          </a:p>
          <a:p>
            <a:pPr algn="l"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anhand echter Routen –</a:t>
            </a:r>
          </a:p>
          <a:p>
            <a:pPr algn="l"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nicht anhand von Folien.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680D6F2-73AE-46BE-8F1E-AD8091BC5245}"/>
              </a:ext>
            </a:extLst>
          </p:cNvPr>
          <p:cNvSpPr>
            <a:spLocks noGrp="1"/>
          </p:cNvSpPr>
          <p:nvPr/>
        </p:nvSpPr>
        <p:spPr>
          <a:xfrm>
            <a:off x="400050" y="3543300"/>
            <a:ext cx="60960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D6E9E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D6E9E6"/>
                </a:solidFill>
                <a:latin typeface="Helvetica Neue"/>
                <a:ea typeface="Helvetica Neue"/>
                <a:cs typeface="Helvetica Neue"/>
              </a:rPr>
              <a:t>Für eine passgenaue Pilot-Demo reichen zunächst:</a:t>
            </a:r>
          </a:p>
          <a:p>
            <a:pPr algn="l">
              <a:defRPr sz="1650" b="0">
                <a:solidFill>
                  <a:srgbClr val="D6E9E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D6E9E6"/>
                </a:solidFill>
                <a:latin typeface="Helvetica Neue"/>
                <a:ea typeface="Helvetica Neue"/>
                <a:cs typeface="Helvetica Neue"/>
              </a:rPr>
              <a:t>• ein repräsentativer Datenexport</a:t>
            </a:r>
          </a:p>
          <a:p>
            <a:pPr algn="l">
              <a:defRPr sz="1650" b="0">
                <a:solidFill>
                  <a:srgbClr val="D6E9E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D6E9E6"/>
                </a:solidFill>
                <a:latin typeface="Helvetica Neue"/>
                <a:ea typeface="Helvetica Neue"/>
                <a:cs typeface="Helvetica Neue"/>
              </a:rPr>
              <a:t>• die wichtigsten Planungsregeln</a:t>
            </a:r>
          </a:p>
          <a:p>
            <a:pPr algn="l">
              <a:defRPr sz="1650" b="0">
                <a:solidFill>
                  <a:srgbClr val="D6E9E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D6E9E6"/>
                </a:solidFill>
                <a:latin typeface="Helvetica Neue"/>
                <a:ea typeface="Helvetica Neue"/>
                <a:cs typeface="Helvetica Neue"/>
              </a:rPr>
              <a:t>• ein gemeinsamer Blick auf eine echte Tagesroute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FA5A218D-72B6-4613-8847-3C424726E701}"/>
              </a:ext>
            </a:extLst>
          </p:cNvPr>
          <p:cNvSpPr>
            <a:spLocks noGrp="1"/>
          </p:cNvSpPr>
          <p:nvPr/>
        </p:nvSpPr>
        <p:spPr>
          <a:xfrm>
            <a:off x="400050" y="5448300"/>
            <a:ext cx="400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>
                <a:solidFill>
                  <a:srgbClr val="DDF5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DDF56A"/>
                </a:solidFill>
                <a:latin typeface="Helvetica Neue"/>
                <a:ea typeface="Helvetica Neue"/>
                <a:cs typeface="Helvetica Neue"/>
              </a:rPr>
              <a:t>AutomateX Route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61833E7F-C0B0-421C-9F33-48FC202B60BD}"/>
              </a:ext>
            </a:extLst>
          </p:cNvPr>
          <p:cNvSpPr>
            <a:spLocks noGrp="1"/>
          </p:cNvSpPr>
          <p:nvPr/>
        </p:nvSpPr>
        <p:spPr>
          <a:xfrm>
            <a:off x="400050" y="582930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D6E9E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D6E9E6"/>
                </a:solidFill>
                <a:latin typeface="Helvetica Neue"/>
                <a:ea typeface="Helvetica Neue"/>
                <a:cs typeface="Helvetica Neue"/>
              </a:rPr>
              <a:t>Frederik Ernst · Essen</a:t>
            </a:r>
          </a:p>
        </p:txBody>
      </p:sp>
      <p:sp>
        <p:nvSpPr>
          <p:cNvPr id="9" name="Gerade Verbindung 8">
            <a:extLst>
              <a:ext uri="{FF2B5EF4-FFF2-40B4-BE49-F238E27FC236}">
                <a16:creationId xmlns:a16="http://schemas.microsoft.com/office/drawing/2014/main" id="{D392E69A-1987-4422-908D-F238E24140A2}"/>
              </a:ext>
            </a:extLst>
          </p:cNvPr>
          <p:cNvSpPr>
            <a:spLocks noGrp="1"/>
          </p:cNvSpPr>
          <p:nvPr/>
        </p:nvSpPr>
        <p:spPr>
          <a:xfrm>
            <a:off x="400050" y="6267450"/>
            <a:ext cx="11391900" cy="0"/>
          </a:xfrm>
          <a:prstGeom prst="line">
            <a:avLst/>
          </a:prstGeom>
          <a:noFill/>
          <a:ln w="9525">
            <a:solidFill>
              <a:srgbClr val="4B757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0DCE2797-5332-4DE0-86DB-D4C3869CDAE9}"/>
              </a:ext>
            </a:extLst>
          </p:cNvPr>
          <p:cNvSpPr>
            <a:spLocks noGrp="1"/>
          </p:cNvSpPr>
          <p:nvPr/>
        </p:nvSpPr>
        <p:spPr>
          <a:xfrm>
            <a:off x="400050" y="6410325"/>
            <a:ext cx="800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50" b="0">
                <a:solidFill>
                  <a:srgbClr val="B6D1CE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B6D1CE"/>
                </a:solidFill>
                <a:latin typeface="Helvetica Neue"/>
                <a:ea typeface="Helvetica Neue"/>
                <a:cs typeface="Helvetica Neue"/>
              </a:rPr>
              <a:t>Quellen: Kundengespräch · AutomateX Produktstand · automate-x-solutions.de (17.07.2026)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A14B8BF2-085A-4C79-A093-8E3EB5B415B1}"/>
              </a:ext>
            </a:extLst>
          </p:cNvPr>
          <p:cNvSpPr>
            <a:spLocks noGrp="1"/>
          </p:cNvSpPr>
          <p:nvPr/>
        </p:nvSpPr>
        <p:spPr>
          <a:xfrm>
            <a:off x="11277600" y="6381750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5239411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536</Words>
  <Application>Microsoft Macintosh PowerPoint</Application>
  <DocSecurity>0</DocSecurity>
  <PresentationFormat>Breitbild</PresentationFormat>
  <Paragraphs>103</Paragraphs>
  <Slides>7</Slides>
  <Notes>7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0" baseType="lpstr">
      <vt:lpstr>Calibri</vt:lpstr>
      <vt:lpstr>Helvetica Neue</vt:lpstr>
      <vt:lpstr>ChatGPT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Frederik Ernst</cp:lastModifiedBy>
  <cp:revision>1</cp:revision>
  <dcterms:created xsi:type="dcterms:W3CDTF">2026-07-17T15:44:52Z</dcterms:created>
  <dcterms:modified xsi:type="dcterms:W3CDTF">2026-07-18T01:14:20Z</dcterms:modified>
</cp:coreProperties>
</file>